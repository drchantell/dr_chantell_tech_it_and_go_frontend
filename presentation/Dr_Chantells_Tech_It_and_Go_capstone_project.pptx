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m4a" ContentType="audio/mp4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fe5d978d40404c" /><Relationship Type="http://schemas.openxmlformats.org/officeDocument/2006/relationships/extended-properties" Target="/docProps/app.xml" Id="R920634a2a0564d48" /><Relationship Type="http://schemas.openxmlformats.org/officeDocument/2006/relationships/officeDocument" Target="/ppt/presentation.xml" Id="Rd7cdca47b2d141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4d0a1764f849d7"/>
  </p:sldMasterIdLst>
  <p:notesMasterIdLst>
    <p:notesMasterId xmlns:r="http://schemas.openxmlformats.org/officeDocument/2006/relationships" r:id="R944e7c7a91ea40a7"/>
  </p:notesMasterIdLst>
  <p:sldIdLst>
    <p:sldId xmlns:r="http://schemas.openxmlformats.org/officeDocument/2006/relationships" id="256" r:id="R2fc4a117118c4322"/>
    <p:sldId xmlns:r="http://schemas.openxmlformats.org/officeDocument/2006/relationships" id="257" r:id="R44461717d15745f8"/>
    <p:sldId xmlns:r="http://schemas.openxmlformats.org/officeDocument/2006/relationships" id="258" r:id="Rbc7e00ad7ebb4616"/>
    <p:sldId xmlns:r="http://schemas.openxmlformats.org/officeDocument/2006/relationships" id="259" r:id="R29d5ea05c8dd47fc"/>
    <p:sldId xmlns:r="http://schemas.openxmlformats.org/officeDocument/2006/relationships" id="260" r:id="Rc9874d7e1cc3481f"/>
    <p:sldId xmlns:r="http://schemas.openxmlformats.org/officeDocument/2006/relationships" id="261" r:id="Re95b49d14db949d5"/>
    <p:sldId xmlns:r="http://schemas.openxmlformats.org/officeDocument/2006/relationships" id="262" r:id="Ra89722fbf44f4b6d"/>
    <p:sldId xmlns:r="http://schemas.openxmlformats.org/officeDocument/2006/relationships" id="263" r:id="Re095f761e3c14f31"/>
    <p:sldId xmlns:r="http://schemas.openxmlformats.org/officeDocument/2006/relationships" id="264" r:id="R4e4dd0ced4a64ac5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  <p:showPr useTimings="1" showNarration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2412c6c2734764" /><Relationship Type="http://schemas.openxmlformats.org/officeDocument/2006/relationships/slideMaster" Target="/ppt/slideMasters/slideMaster1.xml" Id="Rc24d0a1764f849d7" /><Relationship Type="http://schemas.openxmlformats.org/officeDocument/2006/relationships/notesMaster" Target="/ppt/notesMasters/notesMaster1.xml" Id="R944e7c7a91ea40a7" /><Relationship Type="http://schemas.openxmlformats.org/officeDocument/2006/relationships/presProps" Target="/ppt/presProps.xml" Id="Ra8995d7c01424010" /><Relationship Type="http://schemas.openxmlformats.org/officeDocument/2006/relationships/viewProps" Target="/ppt/viewProps.xml" Id="R3d21bc2dbabd42ef" /><Relationship Type="http://schemas.openxmlformats.org/officeDocument/2006/relationships/tableStyles" Target="/ppt/tableStyles.xml" Id="R3cd667e48a6040b7" /><Relationship Type="http://schemas.openxmlformats.org/officeDocument/2006/relationships/slide" Target="/ppt/slides/slide1.xml" Id="R2fc4a117118c4322" /><Relationship Type="http://schemas.openxmlformats.org/officeDocument/2006/relationships/slide" Target="/ppt/slides/slide2.xml" Id="R44461717d15745f8" /><Relationship Type="http://schemas.openxmlformats.org/officeDocument/2006/relationships/slide" Target="/ppt/slides/slide3.xml" Id="Rbc7e00ad7ebb4616" /><Relationship Type="http://schemas.openxmlformats.org/officeDocument/2006/relationships/slide" Target="/ppt/slides/slide4.xml" Id="R29d5ea05c8dd47fc" /><Relationship Type="http://schemas.openxmlformats.org/officeDocument/2006/relationships/slide" Target="/ppt/slides/slide5.xml" Id="Rc9874d7e1cc3481f" /><Relationship Type="http://schemas.openxmlformats.org/officeDocument/2006/relationships/slide" Target="/ppt/slides/slide6.xml" Id="Re95b49d14db949d5" /><Relationship Type="http://schemas.openxmlformats.org/officeDocument/2006/relationships/slide" Target="/ppt/slides/slide7.xml" Id="Ra89722fbf44f4b6d" /><Relationship Type="http://schemas.openxmlformats.org/officeDocument/2006/relationships/slide" Target="/ppt/slides/slide8.xml" Id="Re095f761e3c14f31" /><Relationship Type="http://schemas.openxmlformats.org/officeDocument/2006/relationships/slide" Target="/ppt/slides/slide9.xml" Id="R4e4dd0ced4a64a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a89b7b3af74e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0a3873b1464192" /><Relationship Type="http://schemas.openxmlformats.org/officeDocument/2006/relationships/notesMaster" Target="/ppt/notesMasters/notesMaster1.xml" Id="R2c905f29720a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8f922c5cf49c9" /><Relationship Type="http://schemas.openxmlformats.org/officeDocument/2006/relationships/notesMaster" Target="/ppt/notesMasters/notesMaster1.xml" Id="R44d66a6066d448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2c411f374f4cf6" /><Relationship Type="http://schemas.openxmlformats.org/officeDocument/2006/relationships/notesMaster" Target="/ppt/notesMasters/notesMaster1.xml" Id="R3f594a4bd82949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ebd251ef0417b" /><Relationship Type="http://schemas.openxmlformats.org/officeDocument/2006/relationships/notesMaster" Target="/ppt/notesMasters/notesMaster1.xml" Id="Reafb67a839c740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bef629a1014653" /><Relationship Type="http://schemas.openxmlformats.org/officeDocument/2006/relationships/notesMaster" Target="/ppt/notesMasters/notesMaster1.xml" Id="R479d530114a140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b20cd6b9bd42c2" /><Relationship Type="http://schemas.openxmlformats.org/officeDocument/2006/relationships/notesMaster" Target="/ppt/notesMasters/notesMaster1.xml" Id="Receaf7c890764d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378b84a7cb4749" /><Relationship Type="http://schemas.openxmlformats.org/officeDocument/2006/relationships/notesMaster" Target="/ppt/notesMasters/notesMaster1.xml" Id="R8060e89293774a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61d3227b284746" /><Relationship Type="http://schemas.openxmlformats.org/officeDocument/2006/relationships/notesMaster" Target="/ppt/notesMasters/notesMaster1.xml" Id="R16f1822df95145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8d6d761a74e32" /><Relationship Type="http://schemas.openxmlformats.org/officeDocument/2006/relationships/notesMaster" Target="/ppt/notesMasters/notesMaster1.xml" Id="R6ba019807d234a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Introduction | 0:00–0:34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Introduce Dr. Chantell McDowell and Tech It &amp; Go!, a full-stack technology lending library inspired by libraries and makerspaces.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 | 0:34–1:16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Explain equipment access for schools, nonprofits and learners. Pair technology borrowing with lesson plans and guidance.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Borrowers and staff | 1:16–2:01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Show the borrower and staff roles. Borrowers browse, learn and manage their own requests; staff manage equipment.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stack | 2:01–3:03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Explain the three layers: React and Vite frontend, Node and Express API, and MongoDB Atlas with Mongoose.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CRUD and authentication | 3:03–4:03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Explain Create, Read, Update and Delete for equipment and requests. Cover bcrypt, JWT, role checks and request ownership.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tools | 4:03–4:42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Describe the tools used in this MVP and additional course concepts. Distinguish project tools from topics learned.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Challenges and testing | 4:42–5:32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Describe database, frontend/API, permissions and deployment challenges. Explain testing one layer at a time and checking complete workflows.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| 5:32–6:11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The recording describes the original Vercel frontend plan. The current repository documents Render for both frontend and backend. Production workflows still require verification; the presentation demonstration uses a local sample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 demonstration and close | 6:11–7:00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Recorded narration starts automatically when this slide appears.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Presenter guide: Show the catalog, search, kit details, lesson plan, borrowing request and staff equipment tools. The movie uses actual React app screens with sample data. Close with the full-stack takeaway, MakeHERspace affiliation and thanks.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efa4120a24c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05e4b1c074a5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A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C0BCF34-975A-42D1-ACE2-D564FEEA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493"/>
          </a:solidFill>
          <a:ln xmlns:a="http://schemas.openxmlformats.org/drawingml/2006/main" w="12700">
            <a:solidFill>
              <a:srgbClr val="FF1493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E3C5D07-035B-4E98-836E-10AE0E7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8272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CF"/>
          </a:solidFill>
          <a:ln xmlns:a="http://schemas.openxmlformats.org/drawingml/2006/main" w="12700">
            <a:solidFill>
              <a:srgbClr val="26D9CF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EC7E2C-9B68-4084-9B17-97D2C67C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332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95465"/>
                </a:solidFill>
                <a:latin typeface="Arial"/>
                <a:ea typeface="Arial"/>
                <a:cs typeface="Arial"/>
              </a:rPr>
              <a:t>Tech It &amp; Go!  •  Dr. Chantell McDowell  •  Per Scholas Capstone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554D80-4135-473D-8FC1-71DAC74DA7B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6c8ec32dcb4730" /><Relationship Type="http://schemas.openxmlformats.org/officeDocument/2006/relationships/slideLayout" Target="/ppt/slideLayouts/slideLayout1.xml" Id="Rd73b501b7da5433a" /><Relationship Type="http://schemas.openxmlformats.org/officeDocument/2006/relationships/slideLayout" Target="/ppt/slideLayouts/slideLayout2.xml" Id="R339dff5ff1dd418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0A6D64F-A12C-4A9C-9336-0FF06A15178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3b501b7da5433a"/>
    <p:sldLayoutId xmlns:r="http://schemas.openxmlformats.org/officeDocument/2006/relationships" id="2147483650" r:id="R339dff5ff1dd418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0c987baa67246ee"/><Relationship Type="http://schemas.openxmlformats.org/officeDocument/2006/relationships/image" Target="/ppt/media/image.png" Id="R3700eca066544358"/><Relationship Type="http://schemas.openxmlformats.org/officeDocument/2006/relationships/notesSlide" Target="/ppt/notesSlides/notesSlide1.xml" Id="Rb8609b90a8964bc1"/><Relationship Id="rIdNarration1" Type="http://schemas.openxmlformats.org/officeDocument/2006/relationships/audio" Target="../media/narration-1.m4a"/><Relationship Id="rIdNarrationMedia1" Type="http://schemas.microsoft.com/office/2007/relationships/media" Target="../media/narration-1.m4a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c9c48c78aaab4149"/><Relationship Type="http://schemas.openxmlformats.org/officeDocument/2006/relationships/image" Target="../media/image.png" Id="R48657c3a2cae4f09"/><Relationship Type="http://schemas.openxmlformats.org/officeDocument/2006/relationships/notesSlide" Target="/ppt/notesSlides/notesSlide2.xml" Id="Re05430569cee4a71"/><Relationship Id="rIdNarration2" Type="http://schemas.openxmlformats.org/officeDocument/2006/relationships/audio" Target="../media/narration-2.m4a"/><Relationship Id="rIdNarrationMedia2" Type="http://schemas.microsoft.com/office/2007/relationships/media" Target="../media/narration-2.m4a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36e45e098da4a89"/><Relationship Type="http://schemas.openxmlformats.org/officeDocument/2006/relationships/image" Target="../media/image.png" Id="Rbe7ee9d95f6948d2"/><Relationship Type="http://schemas.openxmlformats.org/officeDocument/2006/relationships/notesSlide" Target="/ppt/notesSlides/notesSlide3.xml" Id="Rc1d6492d55014386"/><Relationship Id="rIdNarration3" Type="http://schemas.openxmlformats.org/officeDocument/2006/relationships/audio" Target="../media/narration-3.m4a"/><Relationship Id="rIdNarrationMedia3" Type="http://schemas.microsoft.com/office/2007/relationships/media" Target="../media/narration-3.m4a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2c8c6a3bae1f4017"/><Relationship Type="http://schemas.openxmlformats.org/officeDocument/2006/relationships/image" Target="../media/image.png" Id="Rcdc950e8556a4da1"/><Relationship Type="http://schemas.openxmlformats.org/officeDocument/2006/relationships/notesSlide" Target="/ppt/notesSlides/notesSlide4.xml" Id="R4570260bc7e34006"/><Relationship Id="rIdNarration4" Type="http://schemas.openxmlformats.org/officeDocument/2006/relationships/audio" Target="../media/narration-4.m4a"/><Relationship Id="rIdNarrationMedia4" Type="http://schemas.microsoft.com/office/2007/relationships/media" Target="../media/narration-4.m4a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a8c1acfac224a62"/><Relationship Type="http://schemas.openxmlformats.org/officeDocument/2006/relationships/image" Target="../media/image.png" Id="R3e34678c6d29454d"/><Relationship Type="http://schemas.openxmlformats.org/officeDocument/2006/relationships/notesSlide" Target="/ppt/notesSlides/notesSlide5.xml" Id="R1b72d5dfa0d84c57"/><Relationship Id="rIdNarration5" Type="http://schemas.openxmlformats.org/officeDocument/2006/relationships/audio" Target="../media/narration-5.m4a"/><Relationship Id="rIdNarrationMedia5" Type="http://schemas.microsoft.com/office/2007/relationships/media" Target="../media/narration-5.m4a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cd4aec2f37054ecf"/><Relationship Type="http://schemas.openxmlformats.org/officeDocument/2006/relationships/image" Target="../media/image.png" Id="R21b14df8d2b442af"/><Relationship Type="http://schemas.openxmlformats.org/officeDocument/2006/relationships/notesSlide" Target="/ppt/notesSlides/notesSlide6.xml" Id="R8a121bd28e1748f9"/><Relationship Id="rIdNarration6" Type="http://schemas.openxmlformats.org/officeDocument/2006/relationships/audio" Target="../media/narration-6.m4a"/><Relationship Id="rIdNarrationMedia6" Type="http://schemas.microsoft.com/office/2007/relationships/media" Target="../media/narration-6.m4a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c444f916832d486b"/><Relationship Type="http://schemas.openxmlformats.org/officeDocument/2006/relationships/image" Target="../media/image.png" Id="Ra59b378f95d3407b"/><Relationship Type="http://schemas.openxmlformats.org/officeDocument/2006/relationships/notesSlide" Target="/ppt/notesSlides/notesSlide7.xml" Id="R47e3b83a627942a2"/><Relationship Id="rIdNarration7" Type="http://schemas.openxmlformats.org/officeDocument/2006/relationships/audio" Target="../media/narration-7.m4a"/><Relationship Id="rIdNarrationMedia7" Type="http://schemas.microsoft.com/office/2007/relationships/media" Target="../media/narration-7.m4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b3bb8d03c5ac4a4d"/><Relationship Type="http://schemas.openxmlformats.org/officeDocument/2006/relationships/image" Target="../media/image.png" Id="R97d8b498682a494c"/><Relationship Type="http://schemas.openxmlformats.org/officeDocument/2006/relationships/notesSlide" Target="/ppt/notesSlides/notesSlide8.xml" Id="R7e6ac5c55dc14418"/><Relationship Id="rIdNarration8" Type="http://schemas.openxmlformats.org/officeDocument/2006/relationships/audio" Target="../media/narration-8.m4a"/><Relationship Id="rIdNarrationMedia8" Type="http://schemas.microsoft.com/office/2007/relationships/media" Target="../media/narration-8.m4a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30d56e63c4f4cce"/><Relationship Type="http://schemas.openxmlformats.org/officeDocument/2006/relationships/image" Target="/ppt/media/image9.png" Id="R61ecc41401f149fa"/><Relationship Type="http://schemas.openxmlformats.org/officeDocument/2006/relationships/notesSlide" Target="/ppt/notesSlides/notesSlide9.xml" Id="Rff86403e2f8b4280"/><Relationship Id="rIdNarration9" Type="http://schemas.openxmlformats.org/officeDocument/2006/relationships/audio" Target="../media/narration-9.m4a"/><Relationship Id="rIdNarrationMedia9" Type="http://schemas.microsoft.com/office/2007/relationships/media" Target="../media/narration-9.m4a"/><Relationship Id="rIdDemoVideo" Type="http://schemas.openxmlformats.org/officeDocument/2006/relationships/video" Target="../media/app-walkthrough.mp4"/><Relationship Id="rIdDemoMedia" Type="http://schemas.microsoft.com/office/2007/relationships/media" Target="../media/app-walkthrough.mp4"/><Relationship Id="rIdProjectSource" Type="http://schemas.openxmlformats.org/officeDocument/2006/relationships/hyperlink" Target="https://github.com/Drchantell/Dr_Chantell_Tech_It_and_Go_frontend/tree/main/presentation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A561749-C6DC-4114-9C55-6B4C80499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0eca0665443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93345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503A80-9AB9-4DF4-8673-FA8FBEB8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19200"/>
            <a:ext cx="634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00" b="1">
                <a:solidFill>
                  <a:srgbClr val="26D9CF"/>
                </a:solidFill>
              </a:defRPr>
            </a:defPPr>
          </a:lstStyle>
          <a:p xmlns:a="http://schemas.openxmlformats.org/drawingml/2006/main">
            <a:pPr marL="0" indent="0" algn="ctr">
              <a:buNone/>
              <a:defRPr sz="1500" b="1">
                <a:solidFill>
                  <a:srgbClr val="26D9CF"/>
                </a:solidFill>
              </a:defRPr>
            </a:pPr>
            <a:r>
              <a:rPr sz="1500" b="1" spc="140">
                <a:solidFill>
                  <a:srgbClr val="26D9CF"/>
                </a:solidFill>
              </a:rPr>
              <a:t>7-MINUTE CAPSTONE PRESENTATION</a:t>
            </a:r>
            <a:endParaRPr sz="17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B48FFC1-8CBF-44C1-A38B-E2076C0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ctr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Tech It &amp; Go!</a:t>
            </a:r>
            <a:endParaRPr sz="3100"/>
          </a:p>
          <a:p xmlns:a="http://schemas.openxmlformats.org/drawingml/2006/main">
            <a:pPr marL="0" indent="0" algn="ctr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Capstone project</a:t>
            </a:r>
            <a:endParaRPr sz="3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053217B-B6B4-4A81-9B99-D30C6FAE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625" b="1">
                <a:solidFill>
                  <a:srgbClr val="FF1493"/>
                </a:solidFill>
              </a:defRPr>
            </a:defPPr>
          </a:lstStyle>
          <a:p xmlns:a="http://schemas.openxmlformats.org/drawingml/2006/main">
            <a:pPr marL="0" indent="0" algn="ctr">
              <a:buNone/>
              <a:defRPr sz="2625" b="1">
                <a:solidFill>
                  <a:srgbClr val="FF1493"/>
                </a:solidFill>
              </a:defRPr>
            </a:pPr>
            <a:r>
              <a:rPr sz="2625" b="1">
                <a:solidFill>
                  <a:srgbClr val="FF1493"/>
                </a:solidFill>
              </a:rPr>
              <a:t>Dr. Chantell McDowell</a:t>
            </a:r>
            <a:endParaRPr sz="1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5261D25-8AAB-4A66-968E-D85C177C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006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1">
                <a:solidFill>
                  <a:srgbClr val="E3DDEA"/>
                </a:solidFill>
              </a:defRPr>
            </a:defPPr>
          </a:lstStyle>
          <a:p xmlns:a="http://schemas.openxmlformats.org/drawingml/2006/main">
            <a:pPr marL="0" indent="0" algn="ctr">
              <a:buNone/>
              <a:defRPr sz="1800" b="1">
                <a:solidFill>
                  <a:srgbClr val="E3DDEA"/>
                </a:solidFill>
              </a:defRPr>
            </a:pPr>
            <a:r>
              <a:rPr sz="1800" b="1">
                <a:solidFill>
                  <a:srgbClr val="E3DDEA"/>
                </a:solidFill>
              </a:rPr>
              <a:t>Per Scholas Software Engineering</a:t>
            </a:r>
            <a:endParaRPr sz="1500"/>
          </a:p>
        </p:txBody>
      </p:sp>
      <p:pic>
        <p:nvPicPr>
          <p:cNvPr id="901" name="Recorded narration 1" hidden="1">
            <a:extLst xmlns:a="http://schemas.openxmlformats.org/drawingml/2006/main">
              <a:ext uri="{FF2B5EF4-FFF2-40B4-BE49-F238E27FC236}">
                <a16:creationId xmlns:a16="http://schemas.microsoft.com/office/drawing/2014/main" id="{EAC112F1-7215-4F07-A03E-252B32FB4F5F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1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1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3700eca0665443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04099"/>
      </p:ext>
    </p:extLst>
  </p:cSld>
  <p:transition advClick="1" advTm="34081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34081" fill="hold" display="0">
                        <p:stCondLst>
                          <p:cond delay="0"/>
                        </p:stCondLst>
                      </p:cTn>
                      <p:tgtEl>
                        <p:spTgt spid="901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96597B9-49D3-4795-BDE7-1B57AB846E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57c3a2cae4f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1905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E527150-8C5B-4C0D-A193-9286AAE0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What is Tech It &amp; Go?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2F1B24D-A2C5-4314-A995-4B9B2E88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698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A real-world problem turned into a full-stack application.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65550A6-23ED-46CB-A671-5552DA95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3035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149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15DEF1D-F76B-4FC1-A734-BACDC877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783080"/>
            <a:ext cx="4901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The Problem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F201EC5-15F6-4883-9F5C-482B610E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31720"/>
            <a:ext cx="4901184" cy="2697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Technology can be expensive. Schools, nonprofits, and learners may only need equipment for one project or a short period of time.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76AE4FC-52BF-4764-A14D-6EAF541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16636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FC25093-A9A1-45FD-9E3A-1AC64F7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178308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My Solution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587BF07-F7CA-4EE2-A407-2974C83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331720"/>
            <a:ext cx="4764024" cy="2697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Users can browse technology, read related lessons, and submit borrowing requests. Staff can manage the equipment catalog.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F239641-EEA0-4430-8517-BA2D3B8F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60720"/>
            <a:ext cx="85039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12700">
            <a:solidFill>
              <a:srgbClr val="111015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8CCDAB-EEF0-41C6-BFBE-AF9607EF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879592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I combined access to equipment with learning resources.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CE7E634-C4EC-4EF2-81FA-9E52DBAFFEF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pic>
        <p:nvPicPr>
          <p:cNvPr id="902" name="Recorded narration 2" hidden="1">
            <a:extLst xmlns:a="http://schemas.openxmlformats.org/drawingml/2006/main">
              <a:ext uri="{FF2B5EF4-FFF2-40B4-BE49-F238E27FC236}">
                <a16:creationId xmlns:a16="http://schemas.microsoft.com/office/drawing/2014/main" id="{CA156616-55C7-4D8A-8837-B7BC4647B2AB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2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2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48657c3a2cae4f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88669"/>
      </p:ext>
    </p:extLst>
  </p:cSld>
  <p:transition advClick="1" advTm="42642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42642" fill="hold" display="0">
                        <p:stCondLst>
                          <p:cond delay="0"/>
                        </p:stCondLst>
                      </p:cTn>
                      <p:tgtEl>
                        <p:spTgt spid="902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B35C3F0-FCAD-42F5-A86C-B8F04EBB2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ee9d95f6948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1905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432BD1A-C6F2-4EAC-ADC4-6BA5CBAD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What Can a User Do?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B7484C2-A750-4C56-9A8E-599A69F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698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I designed the app around a simple borrower and staff workflow.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DCB3155-28EA-41F9-845D-53E22D36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21208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BC0FD5-475A-45A0-B677-755FB5C0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783080"/>
            <a:ext cx="48097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Borrower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BD2011D-BD07-4A0D-AD02-F3CBD0F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31720"/>
            <a:ext cx="4809744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Browse and search equipment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Read equipment details and lessons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Register and log in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Submit, edit, or delete a pending request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0A3496B-2C44-43A9-B27A-D1AA239C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521208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9D6CF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9E118F-1380-4621-AFEB-55FFF76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83080"/>
            <a:ext cx="48097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Staff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640E38A-D76E-40A8-AC21-4A2FB9EF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331720"/>
            <a:ext cx="4809744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Log in with staff access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Add new equipment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Edit equipment information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Delete or archive equipment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0288751-EBD7-4B8A-83BF-D0D13ACF2F6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pic>
        <p:nvPicPr>
          <p:cNvPr id="903" name="Recorded narration 3" hidden="1">
            <a:extLst xmlns:a="http://schemas.openxmlformats.org/drawingml/2006/main">
              <a:ext uri="{FF2B5EF4-FFF2-40B4-BE49-F238E27FC236}">
                <a16:creationId xmlns:a16="http://schemas.microsoft.com/office/drawing/2014/main" id="{A0111508-0063-4733-9B9C-C901FB882AAC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3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3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be7ee9d95f6948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24426"/>
      </p:ext>
    </p:extLst>
  </p:cSld>
  <p:transition advClick="1" advTm="44300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44300" fill="hold" display="0">
                        <p:stCondLst>
                          <p:cond delay="0"/>
                        </p:stCondLst>
                      </p:cTn>
                      <p:tgtEl>
                        <p:spTgt spid="903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6B0786AB-4893-4D6A-AD31-02B48B82B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950e8556a4d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1905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4810D44-2D49-40A2-897B-D25AEAFA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How the Full Stack Works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F24B08C-2C40-4C6B-8482-C5C67C65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698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 frontend, backend, and database each have a job.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A695671-1C2E-438E-9311-B62E2CDF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356616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149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5226272-C09F-4F3E-952F-A30D7299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1640"/>
            <a:ext cx="3163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1. Frontend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6C7815F-0875-4D50-84D0-5AE96FA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240280"/>
            <a:ext cx="3163824" cy="3154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React + Vite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HTML/CSS concepts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JavaScript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React Router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Fetch API</a:t>
            </a:r>
            <a:endParaRPr sz="1700"/>
          </a:p>
          <a:p xmlns:a="http://schemas.openxmlformats.org/drawingml/2006/main">
            <a:pPr marL="0" indent="0">
              <a:buNone/>
            </a:pP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This is what the user sees and clicks.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DAC52D2-4BFC-4C6F-9C97-7BF74DC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508760"/>
            <a:ext cx="356616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60DF6D7-4F5D-4C65-8D56-63C4B047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691640"/>
            <a:ext cx="3163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2. Backend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6429C49-EC85-4342-80F4-378F95DF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240280"/>
            <a:ext cx="3163824" cy="3154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Node.js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Express.js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REST API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Middleware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CORS + dotenv</a:t>
            </a:r>
            <a:endParaRPr sz="1700"/>
          </a:p>
          <a:p xmlns:a="http://schemas.openxmlformats.org/drawingml/2006/main">
            <a:pPr marL="0" indent="0">
              <a:buNone/>
            </a:pP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This handles rules and requests.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2EE90D7-9BDC-4DC5-B56F-827A957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508760"/>
            <a:ext cx="356616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9D6CF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9C099B9-409F-4471-BD91-E49F914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91640"/>
            <a:ext cx="3163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3. Database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AC0057D-61CA-4461-A951-647EE0CF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40280"/>
            <a:ext cx="3163824" cy="3154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MongoDB Atlas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Mongoose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Models + validation</a:t>
            </a:r>
            <a:endParaRPr sz="1700"/>
          </a:p>
          <a:p xmlns:a="http://schemas.openxmlformats.org/drawingml/2006/main">
            <a:pPr marL="0" indent="0">
              <a:buNone/>
            </a:pP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This saves users, equipment, lessons, and requests.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0F92AF7-75CA-4B3D-B623-149C8ACBD3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pic>
        <p:nvPicPr>
          <p:cNvPr id="904" name="Recorded narration 4" hidden="1">
            <a:extLst xmlns:a="http://schemas.openxmlformats.org/drawingml/2006/main">
              <a:ext uri="{FF2B5EF4-FFF2-40B4-BE49-F238E27FC236}">
                <a16:creationId xmlns:a16="http://schemas.microsoft.com/office/drawing/2014/main" id="{DF3C5DFB-2508-4386-BE68-BBBE03DDE7B8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4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4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cdc950e8556a4d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09894"/>
      </p:ext>
    </p:extLst>
  </p:cSld>
  <p:transition advClick="1" advTm="62855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62855" fill="hold" display="0">
                        <p:stCondLst>
                          <p:cond delay="0"/>
                        </p:stCondLst>
                      </p:cTn>
                      <p:tgtEl>
                        <p:spTgt spid="904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ECD8A15-5D43-49A5-A771-33C071B35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4678c6d2945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1905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A56B608-F250-4716-8A02-36D20684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CRUD + Authentication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25E7DE3-EA50-4CAC-97FD-D3A7BB4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698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These are two of the most important parts of my capstone.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7A7D2D8-6867-4DF3-B7FB-23C71EB0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2560320" cy="3520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149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602E958-026F-446D-9E2C-CB510453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91640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CREATE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0F7C11D-F82F-469E-B187-32AC8EC8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0280"/>
            <a:ext cx="2157984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POST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Add equipment or submit a request.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F2C8B77-8AF1-4CCF-B339-FD0F2B80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508760"/>
            <a:ext cx="2560320" cy="3520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58428DD-EFD6-4E16-8F27-C847879F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91640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READ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C2D84B9-5762-4926-B31F-79C17B93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240280"/>
            <a:ext cx="2157984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GET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View equipment, lessons, and requests.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7207783-38C5-40B6-907D-EEE4413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08760"/>
            <a:ext cx="2560320" cy="3520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9D6CF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06CA980-8E10-4714-8A8D-415FF3B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691640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UPDATE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BDF9FE8-A647-495C-A61F-D001246A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40280"/>
            <a:ext cx="2157984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PATCH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Edit equipment or a pending request.</a:t>
            </a:r>
            <a:endParaRPr sz="17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0BB92BC-E621-4456-9A4A-DBA6F4D5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508760"/>
            <a:ext cx="2560320" cy="3520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E66D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21650D-2479-4988-81A1-AEB505A5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691640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DELETE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92C6998-E5AA-4EB9-B97C-4BBC4A4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240280"/>
            <a:ext cx="2157984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DELETE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Remove or archive data when allowed.</a:t>
            </a:r>
            <a:endParaRPr sz="17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3FDBE2-CCF9-4CD1-BBC7-69B19259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60720"/>
            <a:ext cx="85039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12700">
            <a:solidFill>
              <a:srgbClr val="111015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06EEB58-BDE0-4B5B-A7AC-96E8DCD6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879592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Security: bcrypt + JWT + role checks + ownership checks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B4539A8-FC54-4BD7-8F60-08E80D0A6E0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pic>
        <p:nvPicPr>
          <p:cNvPr id="905" name="Recorded narration 5" hidden="1">
            <a:extLst xmlns:a="http://schemas.openxmlformats.org/drawingml/2006/main">
              <a:ext uri="{FF2B5EF4-FFF2-40B4-BE49-F238E27FC236}">
                <a16:creationId xmlns:a16="http://schemas.microsoft.com/office/drawing/2014/main" id="{4CE91259-3DB4-4BBB-B847-CE13C8736248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5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5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3e34678c6d2945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85588"/>
      </p:ext>
    </p:extLst>
  </p:cSld>
  <p:transition advClick="1" advTm="59563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59563" fill="hold" display="0">
                        <p:stCondLst>
                          <p:cond delay="0"/>
                        </p:stCondLst>
                      </p:cTn>
                      <p:tgtEl>
                        <p:spTgt spid="905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8FF9100-DACA-4300-8201-B7FB88E31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14df8d2b442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1905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C33AF08-B76C-48A3-9D4C-1452C2E1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Tools I Used and Learned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9092E84-10E2-4FEC-AAB0-C5E3608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698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I used the right tools for the MVP and learned additional technologies in the course.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7574BC0-154B-4A77-93EB-17A33E4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303520" cy="3931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149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262523-82F2-4821-9BE5-F5119391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37360"/>
            <a:ext cx="4901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Used Directly in Tech It &amp; Go!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B18F99A-5392-404E-B507-D3BB9BB5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86000"/>
            <a:ext cx="4901184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HTML5 • CSS3 • JavaScript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React • Vite • React Router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Node.js • Express.js • REST API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MongoDB Atlas • Mongoose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bcrypt • JWT • dotenv • CORS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Git • GitHub • Postman • Supertest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8595144-18CD-43DF-A21D-8FF02E5E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303520" cy="3931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25BDC7-7106-446A-A00A-65D0459E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1737360"/>
            <a:ext cx="4901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Other Course Skills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4D0640E-839F-440B-B625-37C50773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286000"/>
            <a:ext cx="4901184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TypeScript • DOM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GraphQL • OAuth 2.0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Java / Spring Boot concepts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SQL + NoSQL concepts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Agile workflow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AI for Software Engineering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1968EC5-EAFD-4294-9B34-7D9940E24E8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pic>
        <p:nvPicPr>
          <p:cNvPr id="906" name="Recorded narration 6" hidden="1">
            <a:extLst xmlns:a="http://schemas.openxmlformats.org/drawingml/2006/main">
              <a:ext uri="{FF2B5EF4-FFF2-40B4-BE49-F238E27FC236}">
                <a16:creationId xmlns:a16="http://schemas.microsoft.com/office/drawing/2014/main" id="{C6D75966-7588-4899-88B7-47F8F6EA60EF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6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6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21b14df8d2b442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63886"/>
      </p:ext>
    </p:extLst>
  </p:cSld>
  <p:transition advClick="1" advTm="38635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38635" fill="hold" display="0">
                        <p:stCondLst>
                          <p:cond delay="0"/>
                        </p:stCondLst>
                      </p:cTn>
                      <p:tgtEl>
                        <p:spTgt spid="906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B951429-DD3D-46DC-A05E-C70D588A3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b378f95d340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1905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D8B12CA-5713-4917-A306-E617FA15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Challenges + Testing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70EBF15-84F5-409C-9C9D-5D1F893F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698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The challenges helped me understand how the pieces connect.</a:t>
            </a:r>
            <a:endParaRPr sz="15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7B8B4AD-EBF6-4677-B2E9-764CB200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10241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254000" indent="-254000">
              <a:buSzPct val="100000"/>
              <a:buChar char="•"/>
            </a:pPr>
            <a:r>
              <a:rPr sz="2100">
                <a:solidFill>
                  <a:srgbClr val="111015"/>
                </a:solidFill>
                <a:latin typeface="Arial"/>
                <a:ea typeface="Arial"/>
                <a:cs typeface="Arial"/>
              </a:rPr>
              <a:t>Connecting MongoDB Atlas and understanding database credentials</a:t>
            </a:r>
            <a:endParaRPr sz="21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100">
                <a:solidFill>
                  <a:srgbClr val="111015"/>
                </a:solidFill>
                <a:latin typeface="Arial"/>
                <a:ea typeface="Arial"/>
                <a:cs typeface="Arial"/>
              </a:rPr>
              <a:t>Connecting the React frontend to the Express backend</a:t>
            </a:r>
            <a:endParaRPr sz="21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100">
                <a:solidFill>
                  <a:srgbClr val="111015"/>
                </a:solidFill>
                <a:latin typeface="Arial"/>
                <a:ea typeface="Arial"/>
                <a:cs typeface="Arial"/>
              </a:rPr>
              <a:t>Understanding JWT, roles, and protected routes</a:t>
            </a:r>
            <a:endParaRPr sz="21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100">
                <a:solidFill>
                  <a:srgbClr val="111015"/>
                </a:solidFill>
                <a:latin typeface="Arial"/>
                <a:ea typeface="Arial"/>
                <a:cs typeface="Arial"/>
              </a:rPr>
              <a:t>Preparing CORS and environment variables for deployment</a:t>
            </a:r>
            <a:endParaRPr sz="2100"/>
          </a:p>
          <a:p xmlns:a="http://schemas.openxmlformats.org/drawingml/2006/main">
            <a:pPr marL="254000" indent="-254000">
              <a:buSzPct val="100000"/>
              <a:buChar char="•"/>
            </a:pPr>
            <a:r>
              <a:rPr sz="2100">
                <a:solidFill>
                  <a:srgbClr val="111015"/>
                </a:solidFill>
                <a:latin typeface="Arial"/>
                <a:ea typeface="Arial"/>
                <a:cs typeface="Arial"/>
              </a:rPr>
              <a:t>Testing the full workflow instead of only testing one file at a time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32375A9-F35E-43E1-B9A8-E7D4A236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60720"/>
            <a:ext cx="85039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12700">
            <a:solidFill>
              <a:srgbClr val="111015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C326F1-336D-4AF8-A769-B1D25634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879592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My debugging process: read the error → isolate the layer → test → fix → test again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F07D57A-B5FF-4CA2-9092-B5E3019B94F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  <p:pic>
        <p:nvPicPr>
          <p:cNvPr id="907" name="Recorded narration 7" hidden="1">
            <a:extLst xmlns:a="http://schemas.openxmlformats.org/drawingml/2006/main">
              <a:ext uri="{FF2B5EF4-FFF2-40B4-BE49-F238E27FC236}">
                <a16:creationId xmlns:a16="http://schemas.microsoft.com/office/drawing/2014/main" id="{24927D5A-7F94-4A72-B76D-0564FEB69212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7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7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a59b378f95d340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06449"/>
      </p:ext>
    </p:extLst>
  </p:cSld>
  <p:transition advClick="1" advTm="50151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50151" fill="hold" display="0">
                        <p:stCondLst>
                          <p:cond delay="0"/>
                        </p:stCondLst>
                      </p:cTn>
                      <p:tgtEl>
                        <p:spTgt spid="907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52C5DAC-3506-4019-9408-D0D584BFD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8b498682a49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1905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ACE350B-E068-4D50-90C0-2632CCE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9052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1015"/>
                </a:solidFill>
                <a:latin typeface="Arial"/>
                <a:ea typeface="Arial"/>
                <a:cs typeface="Arial"/>
              </a:rPr>
              <a:t>Deployment Status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C39A052-8F24-4962-9C4D-30324877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87552"/>
            <a:ext cx="10698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95465"/>
                </a:solidFill>
                <a:latin typeface="Arial"/>
                <a:ea typeface="Arial"/>
                <a:cs typeface="Arial"/>
              </a:rPr>
              <a:t>Recorded plan: Vercel frontend. The repository now uses Render.</a:t>
            </a:r>
            <a:endParaRPr sz="15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9E9B0D-FFFE-40BF-8433-B3A6C5F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338328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9D6CFF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0F15C3-E0BC-4C96-B909-2472E1EE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783080"/>
            <a:ext cx="2980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MongoDB Atlas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9FC3168-959F-4302-B4B2-5C4E946D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31720"/>
            <a:ext cx="2980944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Cloud database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t/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Stores users, equipment, lessons, and borrowing requests.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B4B010-B934-4607-9995-A725AEB3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600200"/>
            <a:ext cx="338328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6D9C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845CA70-2DD6-4EA9-B0D5-56BF75F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1783080"/>
            <a:ext cx="2980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Render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4512F84-9285-4046-B7F6-738ED3AE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331720"/>
            <a:ext cx="2980944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Express API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t/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Validates requests and connects to MongoDB Atlas.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DAA3690-3285-4D73-BFA3-6580C564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600200"/>
            <a:ext cx="338328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F1493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DFE20F7-D7B6-4F24-A9DB-D834CBAC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783080"/>
            <a:ext cx="2980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015"/>
                </a:solidFill>
              </a:rPr>
              <a:t>Frontend hosting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4B56BAD-4319-4D60-9E86-520B1529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331720"/>
            <a:ext cx="2980944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Original plan: Vercel.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t/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595465"/>
                </a:solidFill>
              </a:rPr>
              <a:t>Current repository: Render for the React frontend.</a:t>
            </a:r>
            <a:endParaRPr sz="17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0347040-4D12-46BD-850F-7E42D9A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60720"/>
            <a:ext cx="85039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12700">
            <a:solidFill>
              <a:srgbClr val="111015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D40AFB2-826F-4E90-84ED-01C16FA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879592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The catalog URL returned 404. The walkthrough uses sample data.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A42479B-D8B4-44DE-8622-2F6589204D7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00800"/>
            <a:ext cx="41148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95465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  <p:pic>
        <p:nvPicPr>
          <p:cNvPr id="908" name="Recorded narration 8" hidden="1">
            <a:extLst xmlns:a="http://schemas.openxmlformats.org/drawingml/2006/main">
              <a:ext uri="{FF2B5EF4-FFF2-40B4-BE49-F238E27FC236}">
                <a16:creationId xmlns:a16="http://schemas.microsoft.com/office/drawing/2014/main" id="{1DBE0D85-1013-4B9E-AE5E-3336077BA067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8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8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97d8b498682a49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60803"/>
      </p:ext>
    </p:extLst>
  </p:cSld>
  <p:transition advClick="1" advTm="38932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38932" fill="hold" display="0">
                        <p:stCondLst>
                          <p:cond delay="0"/>
                        </p:stCondLst>
                      </p:cTn>
                      <p:tgtEl>
                        <p:spTgt spid="908"/>
                      </p:tgtEl>
                    </p:cMediaNode>
                  </p:audio>
                </p:childTnLst>
              </p:cTn>
            </p:par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9EFB3-A71D-4EDD-AF68-B677327D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App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E6B44-79F2-45B8-9EBF-3F12254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D9CF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6D9CF"/>
                </a:solidFill>
              </a:defRPr>
            </a:pPr>
            <a:r>
              <a:rPr sz="1575" b="0">
                <a:solidFill>
                  <a:srgbClr val="26D9CF"/>
                </a:solidFill>
              </a:rPr>
              <a:t>Actual app screens with sample data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B6828-2CEE-48FB-99D8-B951E7B9E139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DemoVideo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Demo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61ecc41401f149fa"/>
          <a:stretch xmlns:a="http://schemas.openxmlformats.org/drawingml/2006/main"/>
        </p:blipFill>
        <p:spPr>
          <a:xfrm xmlns:a="http://schemas.openxmlformats.org/drawingml/2006/main">
            <a:off x="895070" y="1476375"/>
            <a:ext cx="7458635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62591-5E18-4824-B9A8-708AEF4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2628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Browse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Learn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Request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Manage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78476-A471-4FA2-8021-13A10D4C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647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149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1493"/>
                </a:solidFill>
              </a:defRPr>
            </a:pPr>
            <a:r>
              <a:rPr sz="2175" b="1">
                <a:solidFill>
                  <a:srgbClr val="FF1493"/>
                </a:solidFill>
              </a:rPr>
              <a:t>Dr. Chantell</a:t>
            </a:r>
          </a:p>
          <a:p xmlns:a="http://schemas.openxmlformats.org/drawingml/2006/main">
            <a:pPr>
              <a:defRPr sz="2175" b="1">
                <a:solidFill>
                  <a:srgbClr val="FF1493"/>
                </a:solidFill>
              </a:defRPr>
            </a:pPr>
            <a:r>
              <a:rPr sz="2175" b="1">
                <a:solidFill>
                  <a:srgbClr val="FF1493"/>
                </a:solidFill>
              </a:rPr>
              <a:t>McDowell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CD34D-21B8-4D4C-A590-6C3B30DD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2920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6D9CF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6D9CF"/>
                </a:solidFill>
              </a:defRPr>
            </a:pPr>
            <a:r>
              <a:rPr sz="1575" b="0">
                <a:solidFill>
                  <a:srgbClr val="26D9CF"/>
                </a:solidFill>
              </a:rPr>
              <a:t>MakeHERspace</a:t>
            </a:r>
          </a:p>
          <a:p xmlns:a="http://schemas.openxmlformats.org/drawingml/2006/main">
            <a:pPr>
              <a:defRPr sz="1575" b="0">
                <a:solidFill>
                  <a:srgbClr val="26D9CF"/>
                </a:solidFill>
              </a:defRPr>
            </a:pPr>
            <a:r>
              <a:rPr sz="1575" b="0">
                <a:solidFill>
                  <a:srgbClr val="26D9CF"/>
                </a:solidFill>
              </a:rPr>
              <a:t>makeherspace.org</a:t>
            </a:r>
          </a:p>
        </p:txBody>
      </p:sp>
      <p:sp>
        <p:nvSpPr>
          <p:cNvPr id="7" name="SOURCE_LINK">
            <ns0:hlinkClick xmlns:ns0="http://schemas.openxmlformats.org/drawingml/2006/main" xmlns:ns1="http://schemas.openxmlformats.org/officeDocument/2006/relationships" ns1:id="rIdProjectSource"/>
            <a:extLst xmlns:a="http://schemas.openxmlformats.org/drawingml/2006/main">
              <a:ext uri="{FF2B5EF4-FFF2-40B4-BE49-F238E27FC236}">
                <a16:creationId xmlns:a16="http://schemas.microsoft.com/office/drawing/2014/main" id="{C36ADB13-E68B-4DC6-BD95-575AE43C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721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Project files on GitHub</a:t>
            </a:r>
          </a:p>
        </p:txBody>
      </p:sp>
      <p:pic>
        <p:nvPicPr>
          <p:cNvPr id="909" name="Recorded narration 9" hidden="1">
            <a:extLst xmlns:a="http://schemas.openxmlformats.org/drawingml/2006/main">
              <a:ext uri="{FF2B5EF4-FFF2-40B4-BE49-F238E27FC236}">
                <a16:creationId xmlns:a16="http://schemas.microsoft.com/office/drawing/2014/main" id="{84711282-C4CB-4CF9-9180-77D68114CA49}"/>
              </a:ext>
            </a:extLst>
          </p:cNvPr>
          <p:cNvPicPr>
            <a:picLocks xmlns:a="http://schemas.openxmlformats.org/drawingml/2006/main" noChangeAspect="1"/>
          </p:cNvPicPr>
          <p:nvPr>
            <ns0:audioFile xmlns:ns0="http://schemas.openxmlformats.org/drawingml/2006/main" xmlns:ns1="http://schemas.openxmlformats.org/officeDocument/2006/relationships" ns1:link="rIdNarration9"/>
            <p:extLst>
              <p:ext uri="{DAA4B4D4-6D71-4841-9C97-3DEEE036F356}">
                <p14:media xmlns:p14="http://schemas.microsoft.com/office/powerpoint/2010/main" xmlns:ns2="http://schemas.openxmlformats.org/officeDocument/2006/relationships" ns2:embed="rIdNarrationMedia9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61ecc41401f149fa"/>
          <a:stretch xmlns:a="http://schemas.openxmlformats.org/drawingml/2006/main"/>
        </p:blipFill>
        <p:spPr>
          <a:xfrm xmlns:a="http://schemas.openxmlformats.org/drawingml/2006/main">
            <a:off x="12153900" y="6819900"/>
            <a:ext cx="19050" cy="1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99810"/>
      </p:ext>
    </p:extLst>
  </p:cSld>
  <p:transition advClick="1" advTm="48841">
    <p:cut/>
  </p:transition>
  <p:timing>
    <p:tnLst>
      <p:par>
        <p:cTn id="1" dur="indefinite" restart="never" nodeType="tmRoot">
          <p:childTnLst>
            <p:par>
              <p:cTn id="2" fill="hold" nodeType="withEffect">
                <p:stCondLst>
                  <p:cond delay="0"/>
                </p:stCondLst>
                <p:childTnLst>
                  <p:audio isNarration="1">
                    <p:cMediaNode vol="100000" numSld="1" showWhenStopped="0">
                      <p:cTn id="3" dur="48841" fill="hold" display="0">
                        <p:stCondLst>
                          <p:cond delay="0"/>
                        </p:stCondLst>
                      </p:cTn>
                      <p:tgtEl>
                        <p:spTgt spid="909"/>
                      </p:tgtEl>
                    </p:cMediaNode>
                  </p:audio>
                </p:childTnLst>
              </p:cTn>
            </p:par>
            <p:par>
              <p:cTn id="4" fill="hold" nodeType="withEffect">
                <p:stCondLst>
                  <p:cond delay="0"/>
                </p:stCondLst>
                <p:childTnLst>
                  <p:video>
                    <p:cMediaNode vol="0" numSld="1" showWhenStopped="1" mute="1">
                      <p:cTn id="5" dur="30000" fill="hold" display="0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</p:cMediaNode>
                  </p:video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Dr. Chantell’s Tech It &amp; Go capstone project</dc:title>
  <dcterms:created xsi:type="dcterms:W3CDTF">2026-10-09T15:55:22.3760000Z</dcterms:created>
  <dcterms:modified xsi:type="dcterms:W3CDTF">2026-10-09T15:55:22.3760000Z</dcterms:modified>
</coreProperties>
</file>