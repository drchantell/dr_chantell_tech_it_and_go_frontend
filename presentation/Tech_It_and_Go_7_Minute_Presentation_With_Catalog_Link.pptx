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81e30f979f42e6" /><Relationship Type="http://schemas.openxmlformats.org/officeDocument/2006/relationships/extended-properties" Target="/docProps/app.xml" Id="Redc4d41b99ac4041" /><Relationship Type="http://schemas.openxmlformats.org/officeDocument/2006/relationships/officeDocument" Target="/ppt/presentation.xml" Id="R676d310f6b174ca2" /></Relationships>
</file>

<file path=ppt/presentation.xml><?xml version="1.0" encoding="utf-8"?>
<p:presentation xmlns:p="http://schemas.openxmlformats.org/presentationml/2006/main">
  <p:sldMasterIdLst>
    <p:sldMasterId xmlns:r="http://schemas.openxmlformats.org/officeDocument/2006/relationships" id="2147483648" r:id="R10f7b62162934d87"/>
  </p:sldMasterIdLst>
  <p:notesMasterIdLst>
    <p:notesMasterId xmlns:r="http://schemas.openxmlformats.org/officeDocument/2006/relationships" r:id="R96782e94f5a74d61"/>
  </p:notesMasterIdLst>
  <p:sldIdLst>
    <p:sldId xmlns:r="http://schemas.openxmlformats.org/officeDocument/2006/relationships" id="256" r:id="R74e01e135c7c4dc9"/>
    <p:sldId xmlns:r="http://schemas.openxmlformats.org/officeDocument/2006/relationships" id="257" r:id="Rb04c63834c804959"/>
    <p:sldId xmlns:r="http://schemas.openxmlformats.org/officeDocument/2006/relationships" id="258" r:id="Ra1b518047ef44ee5"/>
    <p:sldId xmlns:r="http://schemas.openxmlformats.org/officeDocument/2006/relationships" id="259" r:id="Reee46c3f44174b79"/>
    <p:sldId xmlns:r="http://schemas.openxmlformats.org/officeDocument/2006/relationships" id="260" r:id="Rdb839a4f47404146"/>
    <p:sldId xmlns:r="http://schemas.openxmlformats.org/officeDocument/2006/relationships" id="261" r:id="R419ed2a19eca423e"/>
    <p:sldId xmlns:r="http://schemas.openxmlformats.org/officeDocument/2006/relationships" id="262" r:id="Race99148d0b14467"/>
    <p:sldId xmlns:r="http://schemas.openxmlformats.org/officeDocument/2006/relationships" id="263" r:id="R54d674a35a2442d5"/>
    <p:sldId xmlns:r="http://schemas.openxmlformats.org/officeDocument/2006/relationships" id="264" r:id="Rccac4090ca914a13"/>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c8e2124ef0d4920" /><Relationship Type="http://schemas.openxmlformats.org/officeDocument/2006/relationships/slideMaster" Target="/ppt/slideMasters/slideMaster1.xml" Id="R10f7b62162934d87" /><Relationship Type="http://schemas.openxmlformats.org/officeDocument/2006/relationships/notesMaster" Target="/ppt/notesMasters/notesMaster1.xml" Id="R96782e94f5a74d61" /><Relationship Type="http://schemas.openxmlformats.org/officeDocument/2006/relationships/presProps" Target="/ppt/presProps.xml" Id="Rd4836705ebd442cb" /><Relationship Type="http://schemas.openxmlformats.org/officeDocument/2006/relationships/viewProps" Target="/ppt/viewProps.xml" Id="R98c5442712bd4010" /><Relationship Type="http://schemas.openxmlformats.org/officeDocument/2006/relationships/tableStyles" Target="/ppt/tableStyles.xml" Id="R9556496c42f04197" /><Relationship Type="http://schemas.openxmlformats.org/officeDocument/2006/relationships/slide" Target="/ppt/slides/slide1.xml" Id="R74e01e135c7c4dc9" /><Relationship Type="http://schemas.openxmlformats.org/officeDocument/2006/relationships/slide" Target="/ppt/slides/slide2.xml" Id="Rb04c63834c804959" /><Relationship Type="http://schemas.openxmlformats.org/officeDocument/2006/relationships/slide" Target="/ppt/slides/slide3.xml" Id="Ra1b518047ef44ee5" /><Relationship Type="http://schemas.openxmlformats.org/officeDocument/2006/relationships/slide" Target="/ppt/slides/slide4.xml" Id="Reee46c3f44174b79" /><Relationship Type="http://schemas.openxmlformats.org/officeDocument/2006/relationships/slide" Target="/ppt/slides/slide5.xml" Id="Rdb839a4f47404146" /><Relationship Type="http://schemas.openxmlformats.org/officeDocument/2006/relationships/slide" Target="/ppt/slides/slide6.xml" Id="R419ed2a19eca423e" /><Relationship Type="http://schemas.openxmlformats.org/officeDocument/2006/relationships/slide" Target="/ppt/slides/slide7.xml" Id="Race99148d0b14467" /><Relationship Type="http://schemas.openxmlformats.org/officeDocument/2006/relationships/slide" Target="/ppt/slides/slide8.xml" Id="R54d674a35a2442d5" /><Relationship Type="http://schemas.openxmlformats.org/officeDocument/2006/relationships/slide" Target="/ppt/slides/slide9.xml" Id="Rccac4090ca914a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7511df6fd64e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ef097ce72b4076" /><Relationship Type="http://schemas.openxmlformats.org/officeDocument/2006/relationships/notesMaster" Target="/ppt/notesMasters/notesMaster1.xml" Id="Rf4c50c1999284d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7efcf5ee004ae1" /><Relationship Type="http://schemas.openxmlformats.org/officeDocument/2006/relationships/notesMaster" Target="/ppt/notesMasters/notesMaster1.xml" Id="R7ea83880400547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29da3ddbe242c4" /><Relationship Type="http://schemas.openxmlformats.org/officeDocument/2006/relationships/notesMaster" Target="/ppt/notesMasters/notesMaster1.xml" Id="Rfe1c0dda18f648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284fc73f124bca" /><Relationship Type="http://schemas.openxmlformats.org/officeDocument/2006/relationships/notesMaster" Target="/ppt/notesMasters/notesMaster1.xml" Id="R779ba59f39234d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4c75310ed248b7" /><Relationship Type="http://schemas.openxmlformats.org/officeDocument/2006/relationships/notesMaster" Target="/ppt/notesMasters/notesMaster1.xml" Id="R93790fe4791c4e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384e88edf742eb" /><Relationship Type="http://schemas.openxmlformats.org/officeDocument/2006/relationships/notesMaster" Target="/ppt/notesMasters/notesMaster1.xml" Id="Ra7d81327ad0945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3f7e9e70404383" /><Relationship Type="http://schemas.openxmlformats.org/officeDocument/2006/relationships/notesMaster" Target="/ppt/notesMasters/notesMaster1.xml" Id="Rc398301d727d40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f7f74a5a9b4172" /><Relationship Type="http://schemas.openxmlformats.org/officeDocument/2006/relationships/notesMaster" Target="/ppt/notesMasters/notesMaster1.xml" Id="Rce6ddc7127864c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bc55b4dd6f4831" /><Relationship Type="http://schemas.openxmlformats.org/officeDocument/2006/relationships/notesMaster" Target="/ppt/notesMasters/notesMaster1.xml" Id="R0a127787cd084a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a:t>
            </a:r>
            <a:br/>
            <a:r>
              <a:t>My name is Dr. Chantell McDowell, and my capstone project is Tech It &amp; Go! It is a full-stack technology lending library. I built it to connect my background in libraries and makerspaces with the software engineering skills I learned at Per Scholas. The idea is simple: borrow the tech, then build your next big idea.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0:35–1:20</a:t>
            </a:r>
            <a:br/>
            <a:r>
              <a:t>I built Tech It &amp; Go! around a problem I have seen in libraries and makerspaces. Technology equipment can be expensive, and a school, nonprofit, or learner may only need a tool for one short project. My solution is a lending library where people can browse equipment, learn how it can be used, and submit a borrowing request. I also connected lesson plans to equipment because access to a tool is more useful when people also have guidance for using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1:20–2:05</a:t>
            </a:r>
            <a:br/>
            <a:r>
              <a:t>I created two main user roles. A borrower can browse the public catalog, read equipment details and lessons, register, log in, and submit a request. A borrower can also edit or delete their own pending request. A staff user has additional permissions to manage the equipment catalog. That means staff can create, update, and remove equipment records. I kept the roles separate because not every user should be able to change the catalog.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2:05–3:05</a:t>
            </a:r>
            <a:br/>
            <a:r>
              <a:t>The easiest way for me to explain the full stack is in three parts. First is the frontend. I used React, Vite, JavaScript, React Router, CSS, and the Fetch API. That is the part users see and interact with. Second is the backend. Node.js runs JavaScript on the server, and Express gives me my routes and REST API. Middleware handles things like authentication, CORS, JSON, and errors. Third is MongoDB Atlas. Mongoose helps my Node and Express backend communicate with MongoDB and validate the data. The important lesson for me was understanding that these are separate layers that work together as one application.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3:05–4:05</a:t>
            </a:r>
            <a:br/>
            <a:r>
              <a:t>One of the main capstone requirements is full CRUD. CRUD means Create, Read, Update, and Delete. I implemented full CRUD for equipment and lending requests. The React frontend sends the request, the Express backend checks the rules, and MongoDB saves the change. I also added authentication. bcrypt hashes passwords before they are saved. JWT identifies a logged-in user on protected requests. I also check user roles and request ownership, so a borrower cannot change staff-only equipment and cannot access another borrower's request.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4:05–5:00</a:t>
            </a:r>
            <a:br/>
            <a:r>
              <a:t>This project let me use many of the tools from the course directly. Those include HTML and CSS concepts, JavaScript, React, Vite, React Router, Node.js, Express, REST APIs, MongoDB, Mongoose, bcrypt, JWT, dotenv, CORS, Git, GitHub, Postman, and automated testing. I also learned TypeScript, the DOM, GraphQL, OAuth, Java and Spring concepts, SQL concepts, Agile workflow, and AI for software engineering. I did not force every technology into the project just to make the list longer. I chose the tools that fit this MVP.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5:00–5:50</a:t>
            </a:r>
            <a:br/>
            <a:r>
              <a:t>The hardest parts were MongoDB setup, connecting the frontend and backend, understanding authentication and permissions, and preparing the app for deployment. I also learned that debugging is easier when I test one layer at a time. I can check the database connection, test the API in Postman, test the frontend separately, and then test the complete workflow. I added automated integration tests and GitHub Actions so important backend and frontend checks run when I push changes.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5:50–6:25</a:t>
            </a:r>
            <a:br/>
            <a:r>
              <a:t>The project is prepared for deployment, but I want to be accurate: the final live deployment is not complete yet. MongoDB Atlas will be the cloud database, Render will host the Node and Express backend, and Vercel will host the React frontend. The remaining work is entering the private environment variables in those services, creating the live deployments, and testing the public URLs from beginning to end.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6:25–7:00</a:t>
            </a:r>
            <a:br/>
            <a:r>
              <a:t>For a live demo, I would keep it simple. I would browse the catalog, log in, submit a borrowing request, open the dashboard, and then show the staff equipment CRUD page. My biggest takeaway from this capstone is that full-stack development is really about connecting layers. A click in React can travel through an API, follow security rules, and finally create or update a MongoDB document. I also want to end by showing that I have working GitHub commits for both parts of the project. My current frontend working commit is b30c620 and my backend working commit is 98d8906. The frontend build check and presentation workflow both passed for the current frontend commit. That gives me a clear working point to return to if I make another change later. Thank you. I am happy to answer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7f8af2cee844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2f9917f85814194"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MASTER">
    <p:bg>
      <p:bgPr>
        <a:solidFill xmlns:a="http://schemas.openxmlformats.org/drawingml/2006/main">
          <a:srgbClr val="FAF9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C4FAE8B-1699-40C9-8151-632BD3D1A984}"/>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FF1493"/>
          </a:solidFill>
          <a:ln xmlns:a="http://schemas.openxmlformats.org/drawingml/2006/main" w="12700">
            <a:solidFill>
              <a:srgbClr val="FF1493"/>
            </a:solidFill>
            <a:prstDash val="solid"/>
          </a:ln>
        </p:spPr>
      </p:sp>
      <p:sp>
        <p:nvSpPr>
          <p:cNvPr id="3" name="Shape 1">
            <a:extLst xmlns:a="http://schemas.openxmlformats.org/drawingml/2006/main">
              <a:ext uri="{FF2B5EF4-FFF2-40B4-BE49-F238E27FC236}">
                <a16:creationId xmlns:a16="http://schemas.microsoft.com/office/drawing/2014/main" id="{289991A2-D967-437B-B4BB-52BF3A90AA55}"/>
              </a:ext>
            </a:extLst>
          </p:cNvPr>
          <p:cNvSpPr>
            <a:spLocks xmlns:a="http://schemas.openxmlformats.org/drawingml/2006/main" noGrp="1"/>
          </p:cNvSpPr>
          <p:nvPr/>
        </p:nvSpPr>
        <p:spPr>
          <a:xfrm xmlns:a="http://schemas.openxmlformats.org/drawingml/2006/main">
            <a:off x="0" y="6748272"/>
            <a:ext cx="12191695" cy="109728"/>
          </a:xfrm>
          <a:prstGeom xmlns:a="http://schemas.openxmlformats.org/drawingml/2006/main" prst="rect">
            <a:avLst/>
          </a:prstGeom>
          <a:solidFill xmlns:a="http://schemas.openxmlformats.org/drawingml/2006/main">
            <a:srgbClr val="26D9CF"/>
          </a:solidFill>
          <a:ln xmlns:a="http://schemas.openxmlformats.org/drawingml/2006/main" w="12700">
            <a:solidFill>
              <a:srgbClr val="26D9CF"/>
            </a:solidFill>
            <a:prstDash val="solid"/>
          </a:ln>
        </p:spPr>
      </p:sp>
      <p:sp>
        <p:nvSpPr>
          <p:cNvPr id="4" name="Text 2">
            <a:extLst xmlns:a="http://schemas.openxmlformats.org/drawingml/2006/main">
              <a:ext uri="{FF2B5EF4-FFF2-40B4-BE49-F238E27FC236}">
                <a16:creationId xmlns:a16="http://schemas.microsoft.com/office/drawing/2014/main" id="{A16A21C9-E204-4417-9E5C-0BA6ACCBD0C3}"/>
              </a:ext>
            </a:extLst>
          </p:cNvPr>
          <p:cNvSpPr>
            <a:spLocks xmlns:a="http://schemas.openxmlformats.org/drawingml/2006/main" noGrp="1"/>
          </p:cNvSpPr>
          <p:nvPr/>
        </p:nvSpPr>
        <p:spPr>
          <a:xfrm xmlns:a="http://schemas.openxmlformats.org/drawingml/2006/main">
            <a:off x="502920" y="6409944"/>
            <a:ext cx="103327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95465"/>
                </a:solidFill>
                <a:latin typeface="Arial"/>
                <a:ea typeface="Arial"/>
                <a:cs typeface="Arial"/>
              </a:rPr>
              <a:t>Tech It &amp; Go!  •  Dr. Chantell McDowell  •  Per Scholas Capstone</a:t>
            </a:r>
            <a:endParaRPr sz="900"/>
          </a:p>
        </p:txBody>
      </p:sp>
      <p:sp>
        <p:nvSpPr>
          <p:cNvPr id="25" name="Slide Number Placeholder 0">
            <a:extLst xmlns:a="http://schemas.openxmlformats.org/drawingml/2006/main">
              <a:ext uri="{FF2B5EF4-FFF2-40B4-BE49-F238E27FC236}">
                <a16:creationId xmlns:a16="http://schemas.microsoft.com/office/drawing/2014/main" id="{E29C93FB-4B16-4273-ABE1-9543ECAC08B0}"/>
              </a:ext>
            </a:extLst>
          </p:cNvPr>
          <p:cNvSpPr>
            <a:spLocks xmlns:a="http://schemas.openxmlformats.org/drawingml/2006/main" noGrp="1"/>
          </p:cNvSpPr>
          <p:nvPr>
            <p:ph type="sldNum" idx="4294967295"/>
          </p:nvPr>
        </p:nvSpPr>
        <p:spPr>
          <a:xfrm xmlns:a="http://schemas.openxmlformats.org/drawingml/2006/main">
            <a:off x="11201400" y="6400800"/>
            <a:ext cx="411480" cy="182880"/>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95465"/>
                </a:solidFill>
              </a:defRPr>
            </a:lvl1pPr>
          </a:lstStyle>
          <a:p xmlns:a="http://schemas.openxmlformats.org/drawingml/2006/main">
            <a:pPr algn="l">
              <a:buNone/>
            </a:pPr>
            <a:fld id="{F7021451-1387-4CA6-816F-3879F97B5CBC}" type="slidenum">
              <a:rPr b="0"/>
              <a:t>1002</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b6c8c74f5343d9" /><Relationship Type="http://schemas.openxmlformats.org/officeDocument/2006/relationships/slideLayout" Target="/ppt/slideLayouts/slideLayout1.xml" Id="R78248124184c492d" /><Relationship Type="http://schemas.openxmlformats.org/officeDocument/2006/relationships/slideLayout" Target="/ppt/slideLayouts/slideLayout2.xml" Id="Rc6c11e65b9554aca"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0CFBD77D-2B5F-4107-B8EE-890E0EF6F6DA}"/>
              </a:ext>
            </a:extLst>
          </p:cNvPr>
          <p:cNvSpPr>
            <a:spLocks xmlns:a="http://schemas.openxmlformats.org/drawingml/2006/main" noGrp="1"/>
          </p:cNvSpPr>
          <p:nvPr>
            <p:ph type="sldNum" idx="4294967295"/>
          </p:nvPr>
        </p:nvSpPr>
        <p:spPr>
          <a:xfrm xmlns:a="http://schemas.openxmlformats.org/drawingml/2006/main">
            <a:off x="11201400" y="6400800"/>
            <a:ext cx="411480" cy="182880"/>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95465"/>
                </a:solidFill>
              </a:defRPr>
            </a:lvl1pPr>
          </a:lstStyle>
          <a:p xmlns:a="http://schemas.openxmlformats.org/drawingml/2006/main">
            <a:pPr algn="l">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248124184c492d"/>
    <p:sldLayoutId xmlns:r="http://schemas.openxmlformats.org/officeDocument/2006/relationships" id="2147483650" r:id="Rc6c11e65b9554ac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a0ca2fdb944825" /><Relationship Type="http://schemas.openxmlformats.org/officeDocument/2006/relationships/image" Target="/ppt/media/image.png" Id="R71d68e2595fa4170" /><Relationship Type="http://schemas.openxmlformats.org/officeDocument/2006/relationships/notesSlide" Target="/ppt/notesSlides/notesSlide1.xml" Id="Rbf7d0d99ba7a4c81"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2.xml" Id="R63936d0876fd474f"/><Relationship Type="http://schemas.openxmlformats.org/officeDocument/2006/relationships/image" Target="../media/image.png" Id="R8a4e44aa0af54d1d"/><Relationship Type="http://schemas.openxmlformats.org/officeDocument/2006/relationships/notesSlide" Target="/ppt/notesSlides/notesSlide2.xml" Id="R7b3f826bd9ad4004"/></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2.xml" Id="R32990d024cf54b78"/><Relationship Type="http://schemas.openxmlformats.org/officeDocument/2006/relationships/image" Target="../media/image.png" Id="R6ebd9f2823d749df"/><Relationship Type="http://schemas.openxmlformats.org/officeDocument/2006/relationships/notesSlide" Target="/ppt/notesSlides/notesSlide3.xml" Id="Ra2ef03f352e4466a"/></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2.xml" Id="Rb8248db25e7a45a3"/><Relationship Type="http://schemas.openxmlformats.org/officeDocument/2006/relationships/image" Target="../media/image.png" Id="Rdaef2cec51064e06"/><Relationship Type="http://schemas.openxmlformats.org/officeDocument/2006/relationships/notesSlide" Target="/ppt/notesSlides/notesSlide4.xml" Id="Rf50d2360865843b9"/></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2.xml" Id="R0bc42b4258c94abc"/><Relationship Type="http://schemas.openxmlformats.org/officeDocument/2006/relationships/image" Target="../media/image.png" Id="Ra10d05501d2740a3"/><Relationship Type="http://schemas.openxmlformats.org/officeDocument/2006/relationships/notesSlide" Target="/ppt/notesSlides/notesSlide5.xml" Id="R3faac5f487c54105"/></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2.xml" Id="R280a7574fc434a08"/><Relationship Type="http://schemas.openxmlformats.org/officeDocument/2006/relationships/image" Target="../media/image.png" Id="R3d666ab560d44e69"/><Relationship Type="http://schemas.openxmlformats.org/officeDocument/2006/relationships/notesSlide" Target="/ppt/notesSlides/notesSlide6.xml" Id="R93ea4ae6ca524088"/></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2.xml" Id="Rd7d28297c14b4bb6"/><Relationship Type="http://schemas.openxmlformats.org/officeDocument/2006/relationships/image" Target="../media/image.png" Id="R28b3cd3184614b64"/><Relationship Type="http://schemas.openxmlformats.org/officeDocument/2006/relationships/notesSlide" Target="/ppt/notesSlides/notesSlide7.xml" Id="R840f85f8ab644481"/></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2.xml" Id="Reee23282ceb84fb9"/><Relationship Type="http://schemas.openxmlformats.org/officeDocument/2006/relationships/image" Target="../media/image.png" Id="Rda1022ed53c34585"/><Relationship Type="http://schemas.openxmlformats.org/officeDocument/2006/relationships/notesSlide" Target="/ppt/notesSlides/notesSlide8.xml" Id="R4a653d21a4c14fcb"/></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7d1f79edefda426b"/><Relationship Type="http://schemas.openxmlformats.org/officeDocument/2006/relationships/image" Target="../media/image.png" Id="R2ee6ebee7b024f2c"/><Relationship Type="http://schemas.openxmlformats.org/officeDocument/2006/relationships/hyperlink" Target="https://tech-it-and-go.onrender.com/equipment" TargetMode="External" Id="Rebbb747399fa47c5"/><Relationship Type="http://schemas.openxmlformats.org/officeDocument/2006/relationships/notesSlide" Target="/ppt/notesSlides/notesSlide9.xml" Id="R1bb4a197a1cb4281"/></Relationships>
</file>

<file path=ppt/slides/slide1.xml><?xml version="1.0" encoding="utf-8"?>
<p:sld xmlns:p="http://schemas.openxmlformats.org/presentationml/2006/main">
  <p:cSld>
    <p:bg>
      <p:bgPr>
        <a:solidFill xmlns:a="http://schemas.openxmlformats.org/drawingml/2006/main">
          <a:srgbClr val="111015"/>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E1D05532-3E61-46A1-A849-DF2FD11DE87F}"/>
              </a:ext>
            </a:extLst>
          </p:cNvPr>
          <p:cNvPicPr>
            <a:picLocks xmlns:a="http://schemas.openxmlformats.org/drawingml/2006/main" noChangeAspect="1"/>
          </p:cNvPicPr>
          <p:nvPr/>
        </p:nvPicPr>
        <p:blipFill>
          <a:blip xmlns:r="http://schemas.openxmlformats.org/officeDocument/2006/relationships" xmlns:a="http://schemas.openxmlformats.org/drawingml/2006/main" r:embed="R71d68e2595fa4170"/>
          <a:srcRect xmlns:a="http://schemas.openxmlformats.org/drawingml/2006/main" l="0" t="0" r="0" b="0"/>
          <a:stretch xmlns:a="http://schemas.openxmlformats.org/drawingml/2006/main">
            <a:fillRect l="0" t="0" r="0" b="0"/>
          </a:stretch>
        </p:blipFill>
        <p:spPr>
          <a:xfrm xmlns:a="http://schemas.openxmlformats.org/drawingml/2006/main">
            <a:off x="4381500" y="0"/>
            <a:ext cx="3429000" cy="34290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E2B2DB86-5CBF-4641-A665-21537D5EEA8C}"/>
              </a:ext>
            </a:extLst>
          </p:cNvPr>
          <p:cNvSpPr>
            <a:spLocks xmlns:a="http://schemas.openxmlformats.org/drawingml/2006/main" noGrp="1"/>
          </p:cNvSpPr>
          <p:nvPr/>
        </p:nvSpPr>
        <p:spPr>
          <a:xfrm xmlns:a="http://schemas.openxmlformats.org/drawingml/2006/main">
            <a:off x="3017520" y="3429000"/>
            <a:ext cx="6217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spc="140">
                <a:solidFill>
                  <a:srgbClr val="26D9CF"/>
                </a:solidFill>
              </a:rPr>
              <a:t>7-MINUTE CAPSTONE PRESENTATION</a:t>
            </a:r>
            <a:endParaRPr sz="1700"/>
          </a:p>
        </p:txBody>
      </p:sp>
      <p:sp>
        <p:nvSpPr>
          <p:cNvPr id="4" name="Text 1">
            <a:extLst xmlns:a="http://schemas.openxmlformats.org/drawingml/2006/main">
              <a:ext uri="{FF2B5EF4-FFF2-40B4-BE49-F238E27FC236}">
                <a16:creationId xmlns:a16="http://schemas.microsoft.com/office/drawing/2014/main" id="{1F0D98E2-3B17-4A1C-B0FD-E78C86632BAD}"/>
              </a:ext>
            </a:extLst>
          </p:cNvPr>
          <p:cNvSpPr>
            <a:spLocks xmlns:a="http://schemas.openxmlformats.org/drawingml/2006/main" noGrp="1"/>
          </p:cNvSpPr>
          <p:nvPr/>
        </p:nvSpPr>
        <p:spPr>
          <a:xfrm xmlns:a="http://schemas.openxmlformats.org/drawingml/2006/main">
            <a:off x="1234440" y="4069080"/>
            <a:ext cx="9738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100" b="1">
                <a:solidFill>
                  <a:srgbClr val="FFFFFF"/>
                </a:solidFill>
              </a:rPr>
              <a:t>Borrow the tech. Build your next big idea.</a:t>
            </a:r>
            <a:endParaRPr sz="3100"/>
          </a:p>
        </p:txBody>
      </p:sp>
      <p:sp>
        <p:nvSpPr>
          <p:cNvPr id="5" name="Text 2">
            <a:extLst xmlns:a="http://schemas.openxmlformats.org/drawingml/2006/main">
              <a:ext uri="{FF2B5EF4-FFF2-40B4-BE49-F238E27FC236}">
                <a16:creationId xmlns:a16="http://schemas.microsoft.com/office/drawing/2014/main" id="{7B784990-ED5C-42DA-A2BC-519B4AFD8AD8}"/>
              </a:ext>
            </a:extLst>
          </p:cNvPr>
          <p:cNvSpPr>
            <a:spLocks xmlns:a="http://schemas.openxmlformats.org/drawingml/2006/main" noGrp="1"/>
          </p:cNvSpPr>
          <p:nvPr/>
        </p:nvSpPr>
        <p:spPr>
          <a:xfrm xmlns:a="http://schemas.openxmlformats.org/drawingml/2006/main">
            <a:off x="2926080" y="5074920"/>
            <a:ext cx="63093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1493"/>
                </a:solidFill>
              </a:rPr>
              <a:t>Dr. Chantell McDowell</a:t>
            </a:r>
            <a:endParaRPr sz="1900"/>
          </a:p>
        </p:txBody>
      </p:sp>
      <p:sp>
        <p:nvSpPr>
          <p:cNvPr id="6" name="Text 3">
            <a:extLst xmlns:a="http://schemas.openxmlformats.org/drawingml/2006/main">
              <a:ext uri="{FF2B5EF4-FFF2-40B4-BE49-F238E27FC236}">
                <a16:creationId xmlns:a16="http://schemas.microsoft.com/office/drawing/2014/main" id="{633FC7BD-679B-43F2-85AC-E6B195A6B8EB}"/>
              </a:ext>
            </a:extLst>
          </p:cNvPr>
          <p:cNvSpPr>
            <a:spLocks xmlns:a="http://schemas.openxmlformats.org/drawingml/2006/main" noGrp="1"/>
          </p:cNvSpPr>
          <p:nvPr/>
        </p:nvSpPr>
        <p:spPr>
          <a:xfrm xmlns:a="http://schemas.openxmlformats.org/drawingml/2006/main">
            <a:off x="2834640" y="5504688"/>
            <a:ext cx="64922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E3DDEA"/>
                </a:solidFill>
              </a:rPr>
              <a:t>Per Scholas Software Engineering</a:t>
            </a:r>
            <a:endParaRPr sz="1500"/>
          </a:p>
        </p:txBody>
      </p:sp>
    </p:spTree>
    <p:extLst>
      <p:ext uri="{BB962C8B-B14F-4D97-AF65-F5344CB8AC3E}">
        <p14:creationId xmlns:p14="http://schemas.microsoft.com/office/powerpoint/2010/main" val="111140879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DDA8F684-9CB9-40A6-9B4B-3252A2E31127}"/>
              </a:ext>
            </a:extLst>
          </p:cNvPr>
          <p:cNvPicPr>
            <a:picLocks xmlns:a="http://schemas.openxmlformats.org/drawingml/2006/main" noChangeAspect="1"/>
          </p:cNvPicPr>
          <p:nvPr/>
        </p:nvPicPr>
        <p:blipFill>
          <a:blip xmlns:r="http://schemas.openxmlformats.org/officeDocument/2006/relationships" xmlns:a="http://schemas.openxmlformats.org/drawingml/2006/main" r:embed="R8a4e44aa0af54d1d"/>
          <a:srcRect xmlns:a="http://schemas.openxmlformats.org/drawingml/2006/main" l="0" t="0" r="0" b="0"/>
          <a:stretch xmlns:a="http://schemas.openxmlformats.org/drawingml/2006/main">
            <a:fillRect l="0" t="0" r="0" b="0"/>
          </a:stretch>
        </p:blipFill>
        <p:spPr>
          <a:xfrm xmlns:a="http://schemas.openxmlformats.org/drawingml/2006/main">
            <a:off x="10648950" y="133350"/>
            <a:ext cx="971550" cy="97155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ECC2398A-D983-4FE4-9021-3FA44BF95798}"/>
              </a:ext>
            </a:extLst>
          </p:cNvPr>
          <p:cNvSpPr>
            <a:spLocks xmlns:a="http://schemas.openxmlformats.org/drawingml/2006/main" noGrp="1"/>
          </p:cNvSpPr>
          <p:nvPr/>
        </p:nvSpPr>
        <p:spPr>
          <a:xfrm xmlns:a="http://schemas.openxmlformats.org/drawingml/2006/main">
            <a:off x="594360" y="411480"/>
            <a:ext cx="9052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11015"/>
                </a:solidFill>
                <a:latin typeface="Arial"/>
                <a:ea typeface="Arial"/>
                <a:cs typeface="Arial"/>
              </a:rPr>
              <a:t>What is Tech It &amp; Go?</a:t>
            </a:r>
            <a:endParaRPr sz="3000"/>
          </a:p>
        </p:txBody>
      </p:sp>
      <p:sp>
        <p:nvSpPr>
          <p:cNvPr id="4" name="Text 1">
            <a:extLst xmlns:a="http://schemas.openxmlformats.org/drawingml/2006/main">
              <a:ext uri="{FF2B5EF4-FFF2-40B4-BE49-F238E27FC236}">
                <a16:creationId xmlns:a16="http://schemas.microsoft.com/office/drawing/2014/main" id="{791B3292-A81C-4FFE-A38B-C0EFE082FED9}"/>
              </a:ext>
            </a:extLst>
          </p:cNvPr>
          <p:cNvSpPr>
            <a:spLocks xmlns:a="http://schemas.openxmlformats.org/drawingml/2006/main" noGrp="1"/>
          </p:cNvSpPr>
          <p:nvPr/>
        </p:nvSpPr>
        <p:spPr>
          <a:xfrm xmlns:a="http://schemas.openxmlformats.org/drawingml/2006/main">
            <a:off x="612648" y="987552"/>
            <a:ext cx="106984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595465"/>
                </a:solidFill>
                <a:latin typeface="Arial"/>
                <a:ea typeface="Arial"/>
                <a:cs typeface="Arial"/>
              </a:rPr>
              <a:t>A real-world problem turned into a full-stack application.</a:t>
            </a:r>
            <a:endParaRPr sz="1500"/>
          </a:p>
        </p:txBody>
      </p:sp>
      <p:sp>
        <p:nvSpPr>
          <p:cNvPr id="5" name="Shape 2">
            <a:extLst xmlns:a="http://schemas.openxmlformats.org/drawingml/2006/main">
              <a:ext uri="{FF2B5EF4-FFF2-40B4-BE49-F238E27FC236}">
                <a16:creationId xmlns:a16="http://schemas.microsoft.com/office/drawing/2014/main" id="{052A7E27-78E6-4460-AD4E-9C6196D801E2}"/>
              </a:ext>
            </a:extLst>
          </p:cNvPr>
          <p:cNvSpPr>
            <a:spLocks xmlns:a="http://schemas.openxmlformats.org/drawingml/2006/main" noGrp="1"/>
          </p:cNvSpPr>
          <p:nvPr/>
        </p:nvSpPr>
        <p:spPr>
          <a:xfrm xmlns:a="http://schemas.openxmlformats.org/drawingml/2006/main">
            <a:off x="777240" y="1600200"/>
            <a:ext cx="5303520" cy="3611880"/>
          </a:xfrm>
          <a:prstGeom xmlns:a="http://schemas.openxmlformats.org/drawingml/2006/main" prst="roundRect">
            <a:avLst/>
          </a:prstGeom>
          <a:solidFill xmlns:a="http://schemas.openxmlformats.org/drawingml/2006/main">
            <a:srgbClr val="FFFFFF"/>
          </a:solidFill>
          <a:ln xmlns:a="http://schemas.openxmlformats.org/drawingml/2006/main" w="25400">
            <a:solidFill>
              <a:srgbClr val="FF1493"/>
            </a:solidFill>
            <a:prstDash val="solid"/>
          </a:ln>
        </p:spPr>
      </p:sp>
      <p:sp>
        <p:nvSpPr>
          <p:cNvPr id="6" name="Text 3">
            <a:extLst xmlns:a="http://schemas.openxmlformats.org/drawingml/2006/main">
              <a:ext uri="{FF2B5EF4-FFF2-40B4-BE49-F238E27FC236}">
                <a16:creationId xmlns:a16="http://schemas.microsoft.com/office/drawing/2014/main" id="{A290FFB8-F431-4E32-BDDB-B46D2DF8E8FD}"/>
              </a:ext>
            </a:extLst>
          </p:cNvPr>
          <p:cNvSpPr>
            <a:spLocks xmlns:a="http://schemas.openxmlformats.org/drawingml/2006/main" noGrp="1"/>
          </p:cNvSpPr>
          <p:nvPr/>
        </p:nvSpPr>
        <p:spPr>
          <a:xfrm xmlns:a="http://schemas.openxmlformats.org/drawingml/2006/main">
            <a:off x="978408" y="1783080"/>
            <a:ext cx="490118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11015"/>
                </a:solidFill>
              </a:rPr>
              <a:t>The Problem</a:t>
            </a:r>
            <a:endParaRPr sz="2000"/>
          </a:p>
        </p:txBody>
      </p:sp>
      <p:sp>
        <p:nvSpPr>
          <p:cNvPr id="7" name="Text 4">
            <a:extLst xmlns:a="http://schemas.openxmlformats.org/drawingml/2006/main">
              <a:ext uri="{FF2B5EF4-FFF2-40B4-BE49-F238E27FC236}">
                <a16:creationId xmlns:a16="http://schemas.microsoft.com/office/drawing/2014/main" id="{3A7169B0-E028-4B08-9006-ADDF6D6F50F0}"/>
              </a:ext>
            </a:extLst>
          </p:cNvPr>
          <p:cNvSpPr>
            <a:spLocks xmlns:a="http://schemas.openxmlformats.org/drawingml/2006/main" noGrp="1"/>
          </p:cNvSpPr>
          <p:nvPr/>
        </p:nvSpPr>
        <p:spPr>
          <a:xfrm xmlns:a="http://schemas.openxmlformats.org/drawingml/2006/main">
            <a:off x="978408" y="2331720"/>
            <a:ext cx="4901184" cy="26974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595465"/>
                </a:solidFill>
              </a:rPr>
              <a:t>Technology can be expensive. Schools, nonprofits, and learners may only need equipment for one project or a short period of time.</a:t>
            </a:r>
            <a:endParaRPr sz="1700"/>
          </a:p>
        </p:txBody>
      </p:sp>
      <p:sp>
        <p:nvSpPr>
          <p:cNvPr id="8" name="Shape 5">
            <a:extLst xmlns:a="http://schemas.openxmlformats.org/drawingml/2006/main">
              <a:ext uri="{FF2B5EF4-FFF2-40B4-BE49-F238E27FC236}">
                <a16:creationId xmlns:a16="http://schemas.microsoft.com/office/drawing/2014/main" id="{C68CAACE-568C-467D-9968-0547C4B06C07}"/>
              </a:ext>
            </a:extLst>
          </p:cNvPr>
          <p:cNvSpPr>
            <a:spLocks xmlns:a="http://schemas.openxmlformats.org/drawingml/2006/main" noGrp="1"/>
          </p:cNvSpPr>
          <p:nvPr/>
        </p:nvSpPr>
        <p:spPr>
          <a:xfrm xmlns:a="http://schemas.openxmlformats.org/drawingml/2006/main">
            <a:off x="6263640" y="1600200"/>
            <a:ext cx="5166360" cy="3611880"/>
          </a:xfrm>
          <a:prstGeom xmlns:a="http://schemas.openxmlformats.org/drawingml/2006/main" prst="roundRect">
            <a:avLst/>
          </a:prstGeom>
          <a:solidFill xmlns:a="http://schemas.openxmlformats.org/drawingml/2006/main">
            <a:srgbClr val="FFFFFF"/>
          </a:solidFill>
          <a:ln xmlns:a="http://schemas.openxmlformats.org/drawingml/2006/main" w="25400">
            <a:solidFill>
              <a:srgbClr val="26D9CF"/>
            </a:solidFill>
            <a:prstDash val="solid"/>
          </a:ln>
        </p:spPr>
      </p:sp>
      <p:sp>
        <p:nvSpPr>
          <p:cNvPr id="9" name="Text 6">
            <a:extLst xmlns:a="http://schemas.openxmlformats.org/drawingml/2006/main">
              <a:ext uri="{FF2B5EF4-FFF2-40B4-BE49-F238E27FC236}">
                <a16:creationId xmlns:a16="http://schemas.microsoft.com/office/drawing/2014/main" id="{70753EF2-6D48-4CE5-863F-0ACBE0E59E17}"/>
              </a:ext>
            </a:extLst>
          </p:cNvPr>
          <p:cNvSpPr>
            <a:spLocks xmlns:a="http://schemas.openxmlformats.org/drawingml/2006/main" noGrp="1"/>
          </p:cNvSpPr>
          <p:nvPr/>
        </p:nvSpPr>
        <p:spPr>
          <a:xfrm xmlns:a="http://schemas.openxmlformats.org/drawingml/2006/main">
            <a:off x="6464808" y="1783080"/>
            <a:ext cx="476402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11015"/>
                </a:solidFill>
              </a:rPr>
              <a:t>My Solution</a:t>
            </a:r>
            <a:endParaRPr sz="2000"/>
          </a:p>
        </p:txBody>
      </p:sp>
      <p:sp>
        <p:nvSpPr>
          <p:cNvPr id="10" name="Text 7">
            <a:extLst xmlns:a="http://schemas.openxmlformats.org/drawingml/2006/main">
              <a:ext uri="{FF2B5EF4-FFF2-40B4-BE49-F238E27FC236}">
                <a16:creationId xmlns:a16="http://schemas.microsoft.com/office/drawing/2014/main" id="{C53878F1-5A69-4EE1-9CAC-F4B058CCB7A3}"/>
              </a:ext>
            </a:extLst>
          </p:cNvPr>
          <p:cNvSpPr>
            <a:spLocks xmlns:a="http://schemas.openxmlformats.org/drawingml/2006/main" noGrp="1"/>
          </p:cNvSpPr>
          <p:nvPr/>
        </p:nvSpPr>
        <p:spPr>
          <a:xfrm xmlns:a="http://schemas.openxmlformats.org/drawingml/2006/main">
            <a:off x="6464808" y="2331720"/>
            <a:ext cx="4764024" cy="26974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595465"/>
                </a:solidFill>
              </a:rPr>
              <a:t>Users can browse technology, read related lessons, and submit borrowing requests. Staff can manage the equipment catalog.</a:t>
            </a:r>
            <a:endParaRPr sz="1700"/>
          </a:p>
        </p:txBody>
      </p:sp>
      <p:sp>
        <p:nvSpPr>
          <p:cNvPr id="11" name="Shape 8">
            <a:extLst xmlns:a="http://schemas.openxmlformats.org/drawingml/2006/main">
              <a:ext uri="{FF2B5EF4-FFF2-40B4-BE49-F238E27FC236}">
                <a16:creationId xmlns:a16="http://schemas.microsoft.com/office/drawing/2014/main" id="{6B9CFED5-954E-476A-AD0F-7C70F1DF7183}"/>
              </a:ext>
            </a:extLst>
          </p:cNvPr>
          <p:cNvSpPr>
            <a:spLocks xmlns:a="http://schemas.openxmlformats.org/drawingml/2006/main" noGrp="1"/>
          </p:cNvSpPr>
          <p:nvPr/>
        </p:nvSpPr>
        <p:spPr>
          <a:xfrm xmlns:a="http://schemas.openxmlformats.org/drawingml/2006/main">
            <a:off x="1828800" y="5760720"/>
            <a:ext cx="8503920" cy="457200"/>
          </a:xfrm>
          <a:prstGeom xmlns:a="http://schemas.openxmlformats.org/drawingml/2006/main" prst="roundRect">
            <a:avLst/>
          </a:prstGeom>
          <a:solidFill xmlns:a="http://schemas.openxmlformats.org/drawingml/2006/main">
            <a:srgbClr val="111015"/>
          </a:solidFill>
          <a:ln xmlns:a="http://schemas.openxmlformats.org/drawingml/2006/main" w="12700">
            <a:solidFill>
              <a:srgbClr val="111015"/>
            </a:solidFill>
            <a:prstDash val="solid"/>
          </a:ln>
        </p:spPr>
      </p:sp>
      <p:sp>
        <p:nvSpPr>
          <p:cNvPr id="12" name="Text 9">
            <a:extLst xmlns:a="http://schemas.openxmlformats.org/drawingml/2006/main">
              <a:ext uri="{FF2B5EF4-FFF2-40B4-BE49-F238E27FC236}">
                <a16:creationId xmlns:a16="http://schemas.microsoft.com/office/drawing/2014/main" id="{9E9FB617-38B2-4C01-988A-226842A998D3}"/>
              </a:ext>
            </a:extLst>
          </p:cNvPr>
          <p:cNvSpPr>
            <a:spLocks xmlns:a="http://schemas.openxmlformats.org/drawingml/2006/main" noGrp="1"/>
          </p:cNvSpPr>
          <p:nvPr/>
        </p:nvSpPr>
        <p:spPr>
          <a:xfrm xmlns:a="http://schemas.openxmlformats.org/drawingml/2006/main">
            <a:off x="1965960" y="5879592"/>
            <a:ext cx="8229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rPr>
              <a:t>I combined access to equipment with learning resources.</a:t>
            </a:r>
            <a:endParaRPr sz="1300"/>
          </a:p>
        </p:txBody>
      </p:sp>
      <p:sp>
        <p:nvSpPr>
          <p:cNvPr id="25" name="Slide Number Placeholder 0">
            <a:extLst xmlns:a="http://schemas.openxmlformats.org/drawingml/2006/main">
              <a:ext uri="{FF2B5EF4-FFF2-40B4-BE49-F238E27FC236}">
                <a16:creationId xmlns:a16="http://schemas.microsoft.com/office/drawing/2014/main" id="{CFBBCBD0-FCBC-4349-ACFE-50D492F496F3}"/>
              </a:ext>
            </a:extLst>
          </p:cNvPr>
          <p:cNvSpPr>
            <a:spLocks xmlns:a="http://schemas.openxmlformats.org/drawingml/2006/main" noGrp="1"/>
          </p:cNvSpPr>
          <p:nvPr>
            <p:ph type="sldNum" idx="4294967295"/>
          </p:nvPr>
        </p:nvSpPr>
        <p:spPr>
          <a:xfrm xmlns:a="http://schemas.openxmlformats.org/drawingml/2006/main">
            <a:off x="11201400" y="6400800"/>
            <a:ext cx="411480" cy="182880"/>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95465"/>
                </a:solidFill>
              </a:defRPr>
            </a:lvl1pPr>
          </a:lstStyle>
          <a:p xmlns:a="http://schemas.openxmlformats.org/drawingml/2006/main">
            <a:pPr algn="l">
              <a:buNone/>
            </a:pPr>
            <a:fld id="{F7021451-1387-4CA6-816F-3879F97B5CBC}" type="slidenum">
              <a:rPr b="0"/>
              <a:t>2</a:t>
            </a:fld>
            <a:endParaRPr/>
          </a:p>
        </p:txBody>
      </p:sp>
    </p:spTree>
    <p:extLst>
      <p:ext uri="{BB962C8B-B14F-4D97-AF65-F5344CB8AC3E}">
        <p14:creationId xmlns:p14="http://schemas.microsoft.com/office/powerpoint/2010/main" val="104671358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1AE99E26-D365-43C7-8100-F48B75196AC4}"/>
              </a:ext>
            </a:extLst>
          </p:cNvPr>
          <p:cNvPicPr>
            <a:picLocks xmlns:a="http://schemas.openxmlformats.org/drawingml/2006/main" noChangeAspect="1"/>
          </p:cNvPicPr>
          <p:nvPr/>
        </p:nvPicPr>
        <p:blipFill>
          <a:blip xmlns:r="http://schemas.openxmlformats.org/officeDocument/2006/relationships" xmlns:a="http://schemas.openxmlformats.org/drawingml/2006/main" r:embed="R6ebd9f2823d749df"/>
          <a:srcRect xmlns:a="http://schemas.openxmlformats.org/drawingml/2006/main" l="0" t="0" r="0" b="0"/>
          <a:stretch xmlns:a="http://schemas.openxmlformats.org/drawingml/2006/main">
            <a:fillRect l="0" t="0" r="0" b="0"/>
          </a:stretch>
        </p:blipFill>
        <p:spPr>
          <a:xfrm xmlns:a="http://schemas.openxmlformats.org/drawingml/2006/main">
            <a:off x="10648950" y="133350"/>
            <a:ext cx="971550" cy="97155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12453A6F-1CF3-4147-99BD-366FEDD3FAF8}"/>
              </a:ext>
            </a:extLst>
          </p:cNvPr>
          <p:cNvSpPr>
            <a:spLocks xmlns:a="http://schemas.openxmlformats.org/drawingml/2006/main" noGrp="1"/>
          </p:cNvSpPr>
          <p:nvPr/>
        </p:nvSpPr>
        <p:spPr>
          <a:xfrm xmlns:a="http://schemas.openxmlformats.org/drawingml/2006/main">
            <a:off x="594360" y="411480"/>
            <a:ext cx="9052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11015"/>
                </a:solidFill>
                <a:latin typeface="Arial"/>
                <a:ea typeface="Arial"/>
                <a:cs typeface="Arial"/>
              </a:rPr>
              <a:t>What Can a User Do?</a:t>
            </a:r>
            <a:endParaRPr sz="3000"/>
          </a:p>
        </p:txBody>
      </p:sp>
      <p:sp>
        <p:nvSpPr>
          <p:cNvPr id="4" name="Text 1">
            <a:extLst xmlns:a="http://schemas.openxmlformats.org/drawingml/2006/main">
              <a:ext uri="{FF2B5EF4-FFF2-40B4-BE49-F238E27FC236}">
                <a16:creationId xmlns:a16="http://schemas.microsoft.com/office/drawing/2014/main" id="{21A5BCD4-8545-4B1C-A3F1-35613867833D}"/>
              </a:ext>
            </a:extLst>
          </p:cNvPr>
          <p:cNvSpPr>
            <a:spLocks xmlns:a="http://schemas.openxmlformats.org/drawingml/2006/main" noGrp="1"/>
          </p:cNvSpPr>
          <p:nvPr/>
        </p:nvSpPr>
        <p:spPr>
          <a:xfrm xmlns:a="http://schemas.openxmlformats.org/drawingml/2006/main">
            <a:off x="612648" y="987552"/>
            <a:ext cx="106984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595465"/>
                </a:solidFill>
                <a:latin typeface="Arial"/>
                <a:ea typeface="Arial"/>
                <a:cs typeface="Arial"/>
              </a:rPr>
              <a:t>I designed the app around a simple borrower and staff workflow.</a:t>
            </a:r>
            <a:endParaRPr sz="1500"/>
          </a:p>
        </p:txBody>
      </p:sp>
      <p:sp>
        <p:nvSpPr>
          <p:cNvPr id="5" name="Shape 2">
            <a:extLst xmlns:a="http://schemas.openxmlformats.org/drawingml/2006/main">
              <a:ext uri="{FF2B5EF4-FFF2-40B4-BE49-F238E27FC236}">
                <a16:creationId xmlns:a16="http://schemas.microsoft.com/office/drawing/2014/main" id="{63DEC23A-5DFC-4C15-804D-E1C8E8E8133E}"/>
              </a:ext>
            </a:extLst>
          </p:cNvPr>
          <p:cNvSpPr>
            <a:spLocks xmlns:a="http://schemas.openxmlformats.org/drawingml/2006/main" noGrp="1"/>
          </p:cNvSpPr>
          <p:nvPr/>
        </p:nvSpPr>
        <p:spPr>
          <a:xfrm xmlns:a="http://schemas.openxmlformats.org/drawingml/2006/main">
            <a:off x="731520" y="1600200"/>
            <a:ext cx="5212080" cy="3657600"/>
          </a:xfrm>
          <a:prstGeom xmlns:a="http://schemas.openxmlformats.org/drawingml/2006/main" prst="roundRect">
            <a:avLst/>
          </a:prstGeom>
          <a:solidFill xmlns:a="http://schemas.openxmlformats.org/drawingml/2006/main">
            <a:srgbClr val="FFFFFF"/>
          </a:solidFill>
          <a:ln xmlns:a="http://schemas.openxmlformats.org/drawingml/2006/main" w="25400">
            <a:solidFill>
              <a:srgbClr val="26D9CF"/>
            </a:solidFill>
            <a:prstDash val="solid"/>
          </a:ln>
        </p:spPr>
      </p:sp>
      <p:sp>
        <p:nvSpPr>
          <p:cNvPr id="6" name="Text 3">
            <a:extLst xmlns:a="http://schemas.openxmlformats.org/drawingml/2006/main">
              <a:ext uri="{FF2B5EF4-FFF2-40B4-BE49-F238E27FC236}">
                <a16:creationId xmlns:a16="http://schemas.microsoft.com/office/drawing/2014/main" id="{4075250B-7B94-4E4A-AEBA-124822139A45}"/>
              </a:ext>
            </a:extLst>
          </p:cNvPr>
          <p:cNvSpPr>
            <a:spLocks xmlns:a="http://schemas.openxmlformats.org/drawingml/2006/main" noGrp="1"/>
          </p:cNvSpPr>
          <p:nvPr/>
        </p:nvSpPr>
        <p:spPr>
          <a:xfrm xmlns:a="http://schemas.openxmlformats.org/drawingml/2006/main">
            <a:off x="932688" y="1783080"/>
            <a:ext cx="480974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11015"/>
                </a:solidFill>
              </a:rPr>
              <a:t>Borrower</a:t>
            </a:r>
            <a:endParaRPr sz="2000"/>
          </a:p>
        </p:txBody>
      </p:sp>
      <p:sp>
        <p:nvSpPr>
          <p:cNvPr id="7" name="Text 4">
            <a:extLst xmlns:a="http://schemas.openxmlformats.org/drawingml/2006/main">
              <a:ext uri="{FF2B5EF4-FFF2-40B4-BE49-F238E27FC236}">
                <a16:creationId xmlns:a16="http://schemas.microsoft.com/office/drawing/2014/main" id="{35EDD3AC-B6B5-4022-AFAF-6DD14033D247}"/>
              </a:ext>
            </a:extLst>
          </p:cNvPr>
          <p:cNvSpPr>
            <a:spLocks xmlns:a="http://schemas.openxmlformats.org/drawingml/2006/main" noGrp="1"/>
          </p:cNvSpPr>
          <p:nvPr/>
        </p:nvSpPr>
        <p:spPr>
          <a:xfrm xmlns:a="http://schemas.openxmlformats.org/drawingml/2006/main">
            <a:off x="932688" y="2331720"/>
            <a:ext cx="4809744" cy="2743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595465"/>
                </a:solidFill>
              </a:rPr>
              <a:t>Browse and search equipment</a:t>
            </a:r>
            <a:endParaRPr sz="1700"/>
          </a:p>
          <a:p xmlns:a="http://schemas.openxmlformats.org/drawingml/2006/main">
            <a:pPr marL="0" indent="0">
              <a:buNone/>
            </a:pPr>
            <a:r>
              <a:rPr sz="1700">
                <a:solidFill>
                  <a:srgbClr val="595465"/>
                </a:solidFill>
              </a:rPr>
              <a:t>Read equipment details and lessons</a:t>
            </a:r>
            <a:endParaRPr sz="1700"/>
          </a:p>
          <a:p xmlns:a="http://schemas.openxmlformats.org/drawingml/2006/main">
            <a:pPr marL="0" indent="0">
              <a:buNone/>
            </a:pPr>
            <a:r>
              <a:rPr sz="1700">
                <a:solidFill>
                  <a:srgbClr val="595465"/>
                </a:solidFill>
              </a:rPr>
              <a:t>Register and log in</a:t>
            </a:r>
            <a:endParaRPr sz="1700"/>
          </a:p>
          <a:p xmlns:a="http://schemas.openxmlformats.org/drawingml/2006/main">
            <a:pPr marL="0" indent="0">
              <a:buNone/>
            </a:pPr>
            <a:r>
              <a:rPr sz="1700">
                <a:solidFill>
                  <a:srgbClr val="595465"/>
                </a:solidFill>
              </a:rPr>
              <a:t>Submit, edit, or delete a pending request</a:t>
            </a:r>
            <a:endParaRPr sz="1700"/>
          </a:p>
        </p:txBody>
      </p:sp>
      <p:sp>
        <p:nvSpPr>
          <p:cNvPr id="8" name="Shape 5">
            <a:extLst xmlns:a="http://schemas.openxmlformats.org/drawingml/2006/main">
              <a:ext uri="{FF2B5EF4-FFF2-40B4-BE49-F238E27FC236}">
                <a16:creationId xmlns:a16="http://schemas.microsoft.com/office/drawing/2014/main" id="{D35551E2-0AAD-4F29-B072-EBC2BBCF36C8}"/>
              </a:ext>
            </a:extLst>
          </p:cNvPr>
          <p:cNvSpPr>
            <a:spLocks xmlns:a="http://schemas.openxmlformats.org/drawingml/2006/main" noGrp="1"/>
          </p:cNvSpPr>
          <p:nvPr/>
        </p:nvSpPr>
        <p:spPr>
          <a:xfrm xmlns:a="http://schemas.openxmlformats.org/drawingml/2006/main">
            <a:off x="6217920" y="1600200"/>
            <a:ext cx="5212080" cy="3657600"/>
          </a:xfrm>
          <a:prstGeom xmlns:a="http://schemas.openxmlformats.org/drawingml/2006/main" prst="roundRect">
            <a:avLst/>
          </a:prstGeom>
          <a:solidFill xmlns:a="http://schemas.openxmlformats.org/drawingml/2006/main">
            <a:srgbClr val="FFFFFF"/>
          </a:solidFill>
          <a:ln xmlns:a="http://schemas.openxmlformats.org/drawingml/2006/main" w="25400">
            <a:solidFill>
              <a:srgbClr val="9D6CFF"/>
            </a:solidFill>
            <a:prstDash val="solid"/>
          </a:ln>
        </p:spPr>
      </p:sp>
      <p:sp>
        <p:nvSpPr>
          <p:cNvPr id="9" name="Text 6">
            <a:extLst xmlns:a="http://schemas.openxmlformats.org/drawingml/2006/main">
              <a:ext uri="{FF2B5EF4-FFF2-40B4-BE49-F238E27FC236}">
                <a16:creationId xmlns:a16="http://schemas.microsoft.com/office/drawing/2014/main" id="{75A879A2-7A55-450A-B2BE-AD49EF200C03}"/>
              </a:ext>
            </a:extLst>
          </p:cNvPr>
          <p:cNvSpPr>
            <a:spLocks xmlns:a="http://schemas.openxmlformats.org/drawingml/2006/main" noGrp="1"/>
          </p:cNvSpPr>
          <p:nvPr/>
        </p:nvSpPr>
        <p:spPr>
          <a:xfrm xmlns:a="http://schemas.openxmlformats.org/drawingml/2006/main">
            <a:off x="6419088" y="1783080"/>
            <a:ext cx="480974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11015"/>
                </a:solidFill>
              </a:rPr>
              <a:t>Staff</a:t>
            </a:r>
            <a:endParaRPr sz="2000"/>
          </a:p>
        </p:txBody>
      </p:sp>
      <p:sp>
        <p:nvSpPr>
          <p:cNvPr id="10" name="Text 7">
            <a:extLst xmlns:a="http://schemas.openxmlformats.org/drawingml/2006/main">
              <a:ext uri="{FF2B5EF4-FFF2-40B4-BE49-F238E27FC236}">
                <a16:creationId xmlns:a16="http://schemas.microsoft.com/office/drawing/2014/main" id="{7D6B56BA-9EBC-4266-985F-82C14622A3F3}"/>
              </a:ext>
            </a:extLst>
          </p:cNvPr>
          <p:cNvSpPr>
            <a:spLocks xmlns:a="http://schemas.openxmlformats.org/drawingml/2006/main" noGrp="1"/>
          </p:cNvSpPr>
          <p:nvPr/>
        </p:nvSpPr>
        <p:spPr>
          <a:xfrm xmlns:a="http://schemas.openxmlformats.org/drawingml/2006/main">
            <a:off x="6419088" y="2331720"/>
            <a:ext cx="4809744" cy="2743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595465"/>
                </a:solidFill>
              </a:rPr>
              <a:t>Log in with staff access</a:t>
            </a:r>
            <a:endParaRPr sz="1700"/>
          </a:p>
          <a:p xmlns:a="http://schemas.openxmlformats.org/drawingml/2006/main">
            <a:pPr marL="0" indent="0">
              <a:buNone/>
            </a:pPr>
            <a:r>
              <a:rPr sz="1700">
                <a:solidFill>
                  <a:srgbClr val="595465"/>
                </a:solidFill>
              </a:rPr>
              <a:t>Add new equipment</a:t>
            </a:r>
            <a:endParaRPr sz="1700"/>
          </a:p>
          <a:p xmlns:a="http://schemas.openxmlformats.org/drawingml/2006/main">
            <a:pPr marL="0" indent="0">
              <a:buNone/>
            </a:pPr>
            <a:r>
              <a:rPr sz="1700">
                <a:solidFill>
                  <a:srgbClr val="595465"/>
                </a:solidFill>
              </a:rPr>
              <a:t>Edit equipment information</a:t>
            </a:r>
            <a:endParaRPr sz="1700"/>
          </a:p>
          <a:p xmlns:a="http://schemas.openxmlformats.org/drawingml/2006/main">
            <a:pPr marL="0" indent="0">
              <a:buNone/>
            </a:pPr>
            <a:r>
              <a:rPr sz="1700">
                <a:solidFill>
                  <a:srgbClr val="595465"/>
                </a:solidFill>
              </a:rPr>
              <a:t>Delete or archive equipment</a:t>
            </a:r>
            <a:endParaRPr sz="1700"/>
          </a:p>
        </p:txBody>
      </p:sp>
      <p:sp>
        <p:nvSpPr>
          <p:cNvPr id="25" name="Slide Number Placeholder 0">
            <a:extLst xmlns:a="http://schemas.openxmlformats.org/drawingml/2006/main">
              <a:ext uri="{FF2B5EF4-FFF2-40B4-BE49-F238E27FC236}">
                <a16:creationId xmlns:a16="http://schemas.microsoft.com/office/drawing/2014/main" id="{AF57A583-3D4C-4BB1-8F7B-7B8149009CCB}"/>
              </a:ext>
            </a:extLst>
          </p:cNvPr>
          <p:cNvSpPr>
            <a:spLocks xmlns:a="http://schemas.openxmlformats.org/drawingml/2006/main" noGrp="1"/>
          </p:cNvSpPr>
          <p:nvPr>
            <p:ph type="sldNum" idx="4294967295"/>
          </p:nvPr>
        </p:nvSpPr>
        <p:spPr>
          <a:xfrm xmlns:a="http://schemas.openxmlformats.org/drawingml/2006/main">
            <a:off x="11201400" y="6400800"/>
            <a:ext cx="411480" cy="182880"/>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95465"/>
                </a:solidFill>
              </a:defRPr>
            </a:lvl1pPr>
          </a:lstStyle>
          <a:p xmlns:a="http://schemas.openxmlformats.org/drawingml/2006/main">
            <a:pPr algn="l">
              <a:buNone/>
            </a:pPr>
            <a:fld id="{F7021451-1387-4CA6-816F-3879F97B5CBC}" type="slidenum">
              <a:rPr b="0"/>
              <a:t>3</a:t>
            </a:fld>
            <a:endParaRPr/>
          </a:p>
        </p:txBody>
      </p:sp>
    </p:spTree>
    <p:extLst>
      <p:ext uri="{BB962C8B-B14F-4D97-AF65-F5344CB8AC3E}">
        <p14:creationId xmlns:p14="http://schemas.microsoft.com/office/powerpoint/2010/main" val="171912350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4C665E4B-CE56-40D4-9928-2E3CCB2FE8AE}"/>
              </a:ext>
            </a:extLst>
          </p:cNvPr>
          <p:cNvPicPr>
            <a:picLocks xmlns:a="http://schemas.openxmlformats.org/drawingml/2006/main" noChangeAspect="1"/>
          </p:cNvPicPr>
          <p:nvPr/>
        </p:nvPicPr>
        <p:blipFill>
          <a:blip xmlns:r="http://schemas.openxmlformats.org/officeDocument/2006/relationships" xmlns:a="http://schemas.openxmlformats.org/drawingml/2006/main" r:embed="Rdaef2cec51064e06"/>
          <a:srcRect xmlns:a="http://schemas.openxmlformats.org/drawingml/2006/main" l="0" t="0" r="0" b="0"/>
          <a:stretch xmlns:a="http://schemas.openxmlformats.org/drawingml/2006/main">
            <a:fillRect l="0" t="0" r="0" b="0"/>
          </a:stretch>
        </p:blipFill>
        <p:spPr>
          <a:xfrm xmlns:a="http://schemas.openxmlformats.org/drawingml/2006/main">
            <a:off x="10648950" y="133350"/>
            <a:ext cx="971550" cy="97155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ED77C1AD-C554-4036-B577-71C3D68DA16E}"/>
              </a:ext>
            </a:extLst>
          </p:cNvPr>
          <p:cNvSpPr>
            <a:spLocks xmlns:a="http://schemas.openxmlformats.org/drawingml/2006/main" noGrp="1"/>
          </p:cNvSpPr>
          <p:nvPr/>
        </p:nvSpPr>
        <p:spPr>
          <a:xfrm xmlns:a="http://schemas.openxmlformats.org/drawingml/2006/main">
            <a:off x="594360" y="411480"/>
            <a:ext cx="9052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11015"/>
                </a:solidFill>
                <a:latin typeface="Arial"/>
                <a:ea typeface="Arial"/>
                <a:cs typeface="Arial"/>
              </a:rPr>
              <a:t>How the Full Stack Works</a:t>
            </a:r>
            <a:endParaRPr sz="3000"/>
          </a:p>
        </p:txBody>
      </p:sp>
      <p:sp>
        <p:nvSpPr>
          <p:cNvPr id="4" name="Text 1">
            <a:extLst xmlns:a="http://schemas.openxmlformats.org/drawingml/2006/main">
              <a:ext uri="{FF2B5EF4-FFF2-40B4-BE49-F238E27FC236}">
                <a16:creationId xmlns:a16="http://schemas.microsoft.com/office/drawing/2014/main" id="{3B5FB37C-D99F-40EC-8930-6C024C6EE2CE}"/>
              </a:ext>
            </a:extLst>
          </p:cNvPr>
          <p:cNvSpPr>
            <a:spLocks xmlns:a="http://schemas.openxmlformats.org/drawingml/2006/main" noGrp="1"/>
          </p:cNvSpPr>
          <p:nvPr/>
        </p:nvSpPr>
        <p:spPr>
          <a:xfrm xmlns:a="http://schemas.openxmlformats.org/drawingml/2006/main">
            <a:off x="612648" y="987552"/>
            <a:ext cx="106984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595465"/>
                </a:solidFill>
                <a:latin typeface="Arial"/>
                <a:ea typeface="Arial"/>
                <a:cs typeface="Arial"/>
              </a:rPr>
              <a:t>The frontend, backend, and database each have a job.</a:t>
            </a:r>
            <a:endParaRPr sz="1500"/>
          </a:p>
        </p:txBody>
      </p:sp>
      <p:sp>
        <p:nvSpPr>
          <p:cNvPr id="5" name="Shape 2">
            <a:extLst xmlns:a="http://schemas.openxmlformats.org/drawingml/2006/main">
              <a:ext uri="{FF2B5EF4-FFF2-40B4-BE49-F238E27FC236}">
                <a16:creationId xmlns:a16="http://schemas.microsoft.com/office/drawing/2014/main" id="{C0484C0D-AF5B-4432-A503-873023D7A8F4}"/>
              </a:ext>
            </a:extLst>
          </p:cNvPr>
          <p:cNvSpPr>
            <a:spLocks xmlns:a="http://schemas.openxmlformats.org/drawingml/2006/main" noGrp="1"/>
          </p:cNvSpPr>
          <p:nvPr/>
        </p:nvSpPr>
        <p:spPr>
          <a:xfrm xmlns:a="http://schemas.openxmlformats.org/drawingml/2006/main">
            <a:off x="502920" y="1508760"/>
            <a:ext cx="3566160" cy="4069080"/>
          </a:xfrm>
          <a:prstGeom xmlns:a="http://schemas.openxmlformats.org/drawingml/2006/main" prst="roundRect">
            <a:avLst/>
          </a:prstGeom>
          <a:solidFill xmlns:a="http://schemas.openxmlformats.org/drawingml/2006/main">
            <a:srgbClr val="FFFFFF"/>
          </a:solidFill>
          <a:ln xmlns:a="http://schemas.openxmlformats.org/drawingml/2006/main" w="25400">
            <a:solidFill>
              <a:srgbClr val="FF1493"/>
            </a:solidFill>
            <a:prstDash val="solid"/>
          </a:ln>
        </p:spPr>
      </p:sp>
      <p:sp>
        <p:nvSpPr>
          <p:cNvPr id="6" name="Text 3">
            <a:extLst xmlns:a="http://schemas.openxmlformats.org/drawingml/2006/main">
              <a:ext uri="{FF2B5EF4-FFF2-40B4-BE49-F238E27FC236}">
                <a16:creationId xmlns:a16="http://schemas.microsoft.com/office/drawing/2014/main" id="{EF0F2A3B-6F64-4100-BF3E-78B793BA9140}"/>
              </a:ext>
            </a:extLst>
          </p:cNvPr>
          <p:cNvSpPr>
            <a:spLocks xmlns:a="http://schemas.openxmlformats.org/drawingml/2006/main" noGrp="1"/>
          </p:cNvSpPr>
          <p:nvPr/>
        </p:nvSpPr>
        <p:spPr>
          <a:xfrm xmlns:a="http://schemas.openxmlformats.org/drawingml/2006/main">
            <a:off x="704088" y="1691640"/>
            <a:ext cx="316382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11015"/>
                </a:solidFill>
              </a:rPr>
              <a:t>1. Frontend</a:t>
            </a:r>
            <a:endParaRPr sz="2000"/>
          </a:p>
        </p:txBody>
      </p:sp>
      <p:sp>
        <p:nvSpPr>
          <p:cNvPr id="7" name="Text 4">
            <a:extLst xmlns:a="http://schemas.openxmlformats.org/drawingml/2006/main">
              <a:ext uri="{FF2B5EF4-FFF2-40B4-BE49-F238E27FC236}">
                <a16:creationId xmlns:a16="http://schemas.microsoft.com/office/drawing/2014/main" id="{197A2622-0EE0-4FDF-969D-C98B12B6E114}"/>
              </a:ext>
            </a:extLst>
          </p:cNvPr>
          <p:cNvSpPr>
            <a:spLocks xmlns:a="http://schemas.openxmlformats.org/drawingml/2006/main" noGrp="1"/>
          </p:cNvSpPr>
          <p:nvPr/>
        </p:nvSpPr>
        <p:spPr>
          <a:xfrm xmlns:a="http://schemas.openxmlformats.org/drawingml/2006/main">
            <a:off x="704088" y="2240280"/>
            <a:ext cx="3163824" cy="31546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595465"/>
                </a:solidFill>
              </a:rPr>
              <a:t>React + Vite</a:t>
            </a:r>
            <a:endParaRPr sz="1700"/>
          </a:p>
          <a:p xmlns:a="http://schemas.openxmlformats.org/drawingml/2006/main">
            <a:pPr marL="0" indent="0">
              <a:buNone/>
            </a:pPr>
            <a:r>
              <a:rPr sz="1700">
                <a:solidFill>
                  <a:srgbClr val="595465"/>
                </a:solidFill>
              </a:rPr>
              <a:t>HTML/CSS concepts</a:t>
            </a:r>
            <a:endParaRPr sz="1700"/>
          </a:p>
          <a:p xmlns:a="http://schemas.openxmlformats.org/drawingml/2006/main">
            <a:pPr marL="0" indent="0">
              <a:buNone/>
            </a:pPr>
            <a:r>
              <a:rPr sz="1700">
                <a:solidFill>
                  <a:srgbClr val="595465"/>
                </a:solidFill>
              </a:rPr>
              <a:t>JavaScript</a:t>
            </a:r>
            <a:endParaRPr sz="1700"/>
          </a:p>
          <a:p xmlns:a="http://schemas.openxmlformats.org/drawingml/2006/main">
            <a:pPr marL="0" indent="0">
              <a:buNone/>
            </a:pPr>
            <a:r>
              <a:rPr sz="1700">
                <a:solidFill>
                  <a:srgbClr val="595465"/>
                </a:solidFill>
              </a:rPr>
              <a:t>React Router</a:t>
            </a:r>
            <a:endParaRPr sz="1700"/>
          </a:p>
          <a:p xmlns:a="http://schemas.openxmlformats.org/drawingml/2006/main">
            <a:pPr marL="0" indent="0">
              <a:buNone/>
            </a:pPr>
            <a:r>
              <a:rPr sz="1700">
                <a:solidFill>
                  <a:srgbClr val="595465"/>
                </a:solidFill>
              </a:rPr>
              <a:t>Fetch API</a:t>
            </a:r>
            <a:endParaRPr sz="1700"/>
          </a:p>
          <a:p xmlns:a="http://schemas.openxmlformats.org/drawingml/2006/main">
            <a:pPr marL="0" indent="0">
              <a:buNone/>
            </a:pPr>
            <a:endParaRPr sz="1700"/>
          </a:p>
          <a:p xmlns:a="http://schemas.openxmlformats.org/drawingml/2006/main">
            <a:pPr marL="0" indent="0">
              <a:buNone/>
            </a:pPr>
            <a:r>
              <a:rPr sz="1700">
                <a:solidFill>
                  <a:srgbClr val="595465"/>
                </a:solidFill>
              </a:rPr>
              <a:t>This is what the user sees and clicks.</a:t>
            </a:r>
            <a:endParaRPr sz="1700"/>
          </a:p>
        </p:txBody>
      </p:sp>
      <p:sp>
        <p:nvSpPr>
          <p:cNvPr id="8" name="Shape 5">
            <a:extLst xmlns:a="http://schemas.openxmlformats.org/drawingml/2006/main">
              <a:ext uri="{FF2B5EF4-FFF2-40B4-BE49-F238E27FC236}">
                <a16:creationId xmlns:a16="http://schemas.microsoft.com/office/drawing/2014/main" id="{A1C7A335-015C-403D-86C8-07B87794C6F6}"/>
              </a:ext>
            </a:extLst>
          </p:cNvPr>
          <p:cNvSpPr>
            <a:spLocks xmlns:a="http://schemas.openxmlformats.org/drawingml/2006/main" noGrp="1"/>
          </p:cNvSpPr>
          <p:nvPr/>
        </p:nvSpPr>
        <p:spPr>
          <a:xfrm xmlns:a="http://schemas.openxmlformats.org/drawingml/2006/main">
            <a:off x="4315968" y="1508760"/>
            <a:ext cx="3566160" cy="4069080"/>
          </a:xfrm>
          <a:prstGeom xmlns:a="http://schemas.openxmlformats.org/drawingml/2006/main" prst="roundRect">
            <a:avLst/>
          </a:prstGeom>
          <a:solidFill xmlns:a="http://schemas.openxmlformats.org/drawingml/2006/main">
            <a:srgbClr val="FFFFFF"/>
          </a:solidFill>
          <a:ln xmlns:a="http://schemas.openxmlformats.org/drawingml/2006/main" w="25400">
            <a:solidFill>
              <a:srgbClr val="26D9CF"/>
            </a:solidFill>
            <a:prstDash val="solid"/>
          </a:ln>
        </p:spPr>
      </p:sp>
      <p:sp>
        <p:nvSpPr>
          <p:cNvPr id="9" name="Text 6">
            <a:extLst xmlns:a="http://schemas.openxmlformats.org/drawingml/2006/main">
              <a:ext uri="{FF2B5EF4-FFF2-40B4-BE49-F238E27FC236}">
                <a16:creationId xmlns:a16="http://schemas.microsoft.com/office/drawing/2014/main" id="{705A28FA-0873-4B20-9963-7851F95DCB41}"/>
              </a:ext>
            </a:extLst>
          </p:cNvPr>
          <p:cNvSpPr>
            <a:spLocks xmlns:a="http://schemas.openxmlformats.org/drawingml/2006/main" noGrp="1"/>
          </p:cNvSpPr>
          <p:nvPr/>
        </p:nvSpPr>
        <p:spPr>
          <a:xfrm xmlns:a="http://schemas.openxmlformats.org/drawingml/2006/main">
            <a:off x="4517136" y="1691640"/>
            <a:ext cx="316382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11015"/>
                </a:solidFill>
              </a:rPr>
              <a:t>2. Backend</a:t>
            </a:r>
            <a:endParaRPr sz="2000"/>
          </a:p>
        </p:txBody>
      </p:sp>
      <p:sp>
        <p:nvSpPr>
          <p:cNvPr id="10" name="Text 7">
            <a:extLst xmlns:a="http://schemas.openxmlformats.org/drawingml/2006/main">
              <a:ext uri="{FF2B5EF4-FFF2-40B4-BE49-F238E27FC236}">
                <a16:creationId xmlns:a16="http://schemas.microsoft.com/office/drawing/2014/main" id="{E71EA149-604F-437E-84D5-03F2BE8FCC08}"/>
              </a:ext>
            </a:extLst>
          </p:cNvPr>
          <p:cNvSpPr>
            <a:spLocks xmlns:a="http://schemas.openxmlformats.org/drawingml/2006/main" noGrp="1"/>
          </p:cNvSpPr>
          <p:nvPr/>
        </p:nvSpPr>
        <p:spPr>
          <a:xfrm xmlns:a="http://schemas.openxmlformats.org/drawingml/2006/main">
            <a:off x="4517136" y="2240280"/>
            <a:ext cx="3163824" cy="31546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595465"/>
                </a:solidFill>
              </a:rPr>
              <a:t>Node.js</a:t>
            </a:r>
            <a:endParaRPr sz="1700"/>
          </a:p>
          <a:p xmlns:a="http://schemas.openxmlformats.org/drawingml/2006/main">
            <a:pPr marL="0" indent="0">
              <a:buNone/>
            </a:pPr>
            <a:r>
              <a:rPr sz="1700">
                <a:solidFill>
                  <a:srgbClr val="595465"/>
                </a:solidFill>
              </a:rPr>
              <a:t>Express.js</a:t>
            </a:r>
            <a:endParaRPr sz="1700"/>
          </a:p>
          <a:p xmlns:a="http://schemas.openxmlformats.org/drawingml/2006/main">
            <a:pPr marL="0" indent="0">
              <a:buNone/>
            </a:pPr>
            <a:r>
              <a:rPr sz="1700">
                <a:solidFill>
                  <a:srgbClr val="595465"/>
                </a:solidFill>
              </a:rPr>
              <a:t>REST API</a:t>
            </a:r>
            <a:endParaRPr sz="1700"/>
          </a:p>
          <a:p xmlns:a="http://schemas.openxmlformats.org/drawingml/2006/main">
            <a:pPr marL="0" indent="0">
              <a:buNone/>
            </a:pPr>
            <a:r>
              <a:rPr sz="1700">
                <a:solidFill>
                  <a:srgbClr val="595465"/>
                </a:solidFill>
              </a:rPr>
              <a:t>Middleware</a:t>
            </a:r>
            <a:endParaRPr sz="1700"/>
          </a:p>
          <a:p xmlns:a="http://schemas.openxmlformats.org/drawingml/2006/main">
            <a:pPr marL="0" indent="0">
              <a:buNone/>
            </a:pPr>
            <a:r>
              <a:rPr sz="1700">
                <a:solidFill>
                  <a:srgbClr val="595465"/>
                </a:solidFill>
              </a:rPr>
              <a:t>CORS + dotenv</a:t>
            </a:r>
            <a:endParaRPr sz="1700"/>
          </a:p>
          <a:p xmlns:a="http://schemas.openxmlformats.org/drawingml/2006/main">
            <a:pPr marL="0" indent="0">
              <a:buNone/>
            </a:pPr>
            <a:endParaRPr sz="1700"/>
          </a:p>
          <a:p xmlns:a="http://schemas.openxmlformats.org/drawingml/2006/main">
            <a:pPr marL="0" indent="0">
              <a:buNone/>
            </a:pPr>
            <a:r>
              <a:rPr sz="1700">
                <a:solidFill>
                  <a:srgbClr val="595465"/>
                </a:solidFill>
              </a:rPr>
              <a:t>This handles rules and requests.</a:t>
            </a:r>
            <a:endParaRPr sz="1700"/>
          </a:p>
        </p:txBody>
      </p:sp>
      <p:sp>
        <p:nvSpPr>
          <p:cNvPr id="11" name="Shape 8">
            <a:extLst xmlns:a="http://schemas.openxmlformats.org/drawingml/2006/main">
              <a:ext uri="{FF2B5EF4-FFF2-40B4-BE49-F238E27FC236}">
                <a16:creationId xmlns:a16="http://schemas.microsoft.com/office/drawing/2014/main" id="{F5ED697F-9DBE-49EF-B354-028DD738AA2C}"/>
              </a:ext>
            </a:extLst>
          </p:cNvPr>
          <p:cNvSpPr>
            <a:spLocks xmlns:a="http://schemas.openxmlformats.org/drawingml/2006/main" noGrp="1"/>
          </p:cNvSpPr>
          <p:nvPr/>
        </p:nvSpPr>
        <p:spPr>
          <a:xfrm xmlns:a="http://schemas.openxmlformats.org/drawingml/2006/main">
            <a:off x="8119872" y="1508760"/>
            <a:ext cx="3566160" cy="4069080"/>
          </a:xfrm>
          <a:prstGeom xmlns:a="http://schemas.openxmlformats.org/drawingml/2006/main" prst="roundRect">
            <a:avLst/>
          </a:prstGeom>
          <a:solidFill xmlns:a="http://schemas.openxmlformats.org/drawingml/2006/main">
            <a:srgbClr val="FFFFFF"/>
          </a:solidFill>
          <a:ln xmlns:a="http://schemas.openxmlformats.org/drawingml/2006/main" w="25400">
            <a:solidFill>
              <a:srgbClr val="9D6CFF"/>
            </a:solidFill>
            <a:prstDash val="solid"/>
          </a:ln>
        </p:spPr>
      </p:sp>
      <p:sp>
        <p:nvSpPr>
          <p:cNvPr id="12" name="Text 9">
            <a:extLst xmlns:a="http://schemas.openxmlformats.org/drawingml/2006/main">
              <a:ext uri="{FF2B5EF4-FFF2-40B4-BE49-F238E27FC236}">
                <a16:creationId xmlns:a16="http://schemas.microsoft.com/office/drawing/2014/main" id="{F34C62EE-C132-461A-817B-B950F00AE863}"/>
              </a:ext>
            </a:extLst>
          </p:cNvPr>
          <p:cNvSpPr>
            <a:spLocks xmlns:a="http://schemas.openxmlformats.org/drawingml/2006/main" noGrp="1"/>
          </p:cNvSpPr>
          <p:nvPr/>
        </p:nvSpPr>
        <p:spPr>
          <a:xfrm xmlns:a="http://schemas.openxmlformats.org/drawingml/2006/main">
            <a:off x="8321040" y="1691640"/>
            <a:ext cx="316382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11015"/>
                </a:solidFill>
              </a:rPr>
              <a:t>3. Database</a:t>
            </a:r>
            <a:endParaRPr sz="2000"/>
          </a:p>
        </p:txBody>
      </p:sp>
      <p:sp>
        <p:nvSpPr>
          <p:cNvPr id="13" name="Text 10">
            <a:extLst xmlns:a="http://schemas.openxmlformats.org/drawingml/2006/main">
              <a:ext uri="{FF2B5EF4-FFF2-40B4-BE49-F238E27FC236}">
                <a16:creationId xmlns:a16="http://schemas.microsoft.com/office/drawing/2014/main" id="{4955493E-9365-4FA5-B6A1-8125AD28E3CC}"/>
              </a:ext>
            </a:extLst>
          </p:cNvPr>
          <p:cNvSpPr>
            <a:spLocks xmlns:a="http://schemas.openxmlformats.org/drawingml/2006/main" noGrp="1"/>
          </p:cNvSpPr>
          <p:nvPr/>
        </p:nvSpPr>
        <p:spPr>
          <a:xfrm xmlns:a="http://schemas.openxmlformats.org/drawingml/2006/main">
            <a:off x="8321040" y="2240280"/>
            <a:ext cx="3163824" cy="31546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595465"/>
                </a:solidFill>
              </a:rPr>
              <a:t>MongoDB Atlas</a:t>
            </a:r>
            <a:endParaRPr sz="1700"/>
          </a:p>
          <a:p xmlns:a="http://schemas.openxmlformats.org/drawingml/2006/main">
            <a:pPr marL="0" indent="0">
              <a:buNone/>
            </a:pPr>
            <a:r>
              <a:rPr sz="1700">
                <a:solidFill>
                  <a:srgbClr val="595465"/>
                </a:solidFill>
              </a:rPr>
              <a:t>Mongoose</a:t>
            </a:r>
            <a:endParaRPr sz="1700"/>
          </a:p>
          <a:p xmlns:a="http://schemas.openxmlformats.org/drawingml/2006/main">
            <a:pPr marL="0" indent="0">
              <a:buNone/>
            </a:pPr>
            <a:r>
              <a:rPr sz="1700">
                <a:solidFill>
                  <a:srgbClr val="595465"/>
                </a:solidFill>
              </a:rPr>
              <a:t>Models + validation</a:t>
            </a:r>
            <a:endParaRPr sz="1700"/>
          </a:p>
          <a:p xmlns:a="http://schemas.openxmlformats.org/drawingml/2006/main">
            <a:pPr marL="0" indent="0">
              <a:buNone/>
            </a:pPr>
            <a:endParaRPr sz="1700"/>
          </a:p>
          <a:p xmlns:a="http://schemas.openxmlformats.org/drawingml/2006/main">
            <a:pPr marL="0" indent="0">
              <a:buNone/>
            </a:pPr>
            <a:r>
              <a:rPr sz="1700">
                <a:solidFill>
                  <a:srgbClr val="595465"/>
                </a:solidFill>
              </a:rPr>
              <a:t>This saves users, equipment, lessons, and requests.</a:t>
            </a:r>
            <a:endParaRPr sz="1700"/>
          </a:p>
        </p:txBody>
      </p:sp>
      <p:sp>
        <p:nvSpPr>
          <p:cNvPr id="25" name="Slide Number Placeholder 0">
            <a:extLst xmlns:a="http://schemas.openxmlformats.org/drawingml/2006/main">
              <a:ext uri="{FF2B5EF4-FFF2-40B4-BE49-F238E27FC236}">
                <a16:creationId xmlns:a16="http://schemas.microsoft.com/office/drawing/2014/main" id="{532CF097-4848-4782-859F-689CD64E31D4}"/>
              </a:ext>
            </a:extLst>
          </p:cNvPr>
          <p:cNvSpPr>
            <a:spLocks xmlns:a="http://schemas.openxmlformats.org/drawingml/2006/main" noGrp="1"/>
          </p:cNvSpPr>
          <p:nvPr>
            <p:ph type="sldNum" idx="4294967295"/>
          </p:nvPr>
        </p:nvSpPr>
        <p:spPr>
          <a:xfrm xmlns:a="http://schemas.openxmlformats.org/drawingml/2006/main">
            <a:off x="11201400" y="6400800"/>
            <a:ext cx="411480" cy="182880"/>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95465"/>
                </a:solidFill>
              </a:defRPr>
            </a:lvl1pPr>
          </a:lstStyle>
          <a:p xmlns:a="http://schemas.openxmlformats.org/drawingml/2006/main">
            <a:pPr algn="l">
              <a:buNone/>
            </a:pPr>
            <a:fld id="{F7021451-1387-4CA6-816F-3879F97B5CBC}" type="slidenum">
              <a:rPr b="0"/>
              <a:t>4</a:t>
            </a:fld>
            <a:endParaRPr/>
          </a:p>
        </p:txBody>
      </p:sp>
    </p:spTree>
    <p:extLst>
      <p:ext uri="{BB962C8B-B14F-4D97-AF65-F5344CB8AC3E}">
        <p14:creationId xmlns:p14="http://schemas.microsoft.com/office/powerpoint/2010/main" val="24755806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4FFC96D-9106-47EB-A2F8-BE412C860197}"/>
              </a:ext>
            </a:extLst>
          </p:cNvPr>
          <p:cNvPicPr>
            <a:picLocks xmlns:a="http://schemas.openxmlformats.org/drawingml/2006/main" noChangeAspect="1"/>
          </p:cNvPicPr>
          <p:nvPr/>
        </p:nvPicPr>
        <p:blipFill>
          <a:blip xmlns:r="http://schemas.openxmlformats.org/officeDocument/2006/relationships" xmlns:a="http://schemas.openxmlformats.org/drawingml/2006/main" r:embed="Ra10d05501d2740a3"/>
          <a:srcRect xmlns:a="http://schemas.openxmlformats.org/drawingml/2006/main" l="0" t="0" r="0" b="0"/>
          <a:stretch xmlns:a="http://schemas.openxmlformats.org/drawingml/2006/main">
            <a:fillRect l="0" t="0" r="0" b="0"/>
          </a:stretch>
        </p:blipFill>
        <p:spPr>
          <a:xfrm xmlns:a="http://schemas.openxmlformats.org/drawingml/2006/main">
            <a:off x="10648950" y="133350"/>
            <a:ext cx="971550" cy="97155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D92380C-8419-411C-825A-12DE5DCC6D0A}"/>
              </a:ext>
            </a:extLst>
          </p:cNvPr>
          <p:cNvSpPr>
            <a:spLocks xmlns:a="http://schemas.openxmlformats.org/drawingml/2006/main" noGrp="1"/>
          </p:cNvSpPr>
          <p:nvPr/>
        </p:nvSpPr>
        <p:spPr>
          <a:xfrm xmlns:a="http://schemas.openxmlformats.org/drawingml/2006/main">
            <a:off x="594360" y="411480"/>
            <a:ext cx="9052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11015"/>
                </a:solidFill>
                <a:latin typeface="Arial"/>
                <a:ea typeface="Arial"/>
                <a:cs typeface="Arial"/>
              </a:rPr>
              <a:t>CRUD + Authentication</a:t>
            </a:r>
            <a:endParaRPr sz="3000"/>
          </a:p>
        </p:txBody>
      </p:sp>
      <p:sp>
        <p:nvSpPr>
          <p:cNvPr id="4" name="Text 1">
            <a:extLst xmlns:a="http://schemas.openxmlformats.org/drawingml/2006/main">
              <a:ext uri="{FF2B5EF4-FFF2-40B4-BE49-F238E27FC236}">
                <a16:creationId xmlns:a16="http://schemas.microsoft.com/office/drawing/2014/main" id="{1253B199-EC3A-4B31-B3AF-EA00556573F0}"/>
              </a:ext>
            </a:extLst>
          </p:cNvPr>
          <p:cNvSpPr>
            <a:spLocks xmlns:a="http://schemas.openxmlformats.org/drawingml/2006/main" noGrp="1"/>
          </p:cNvSpPr>
          <p:nvPr/>
        </p:nvSpPr>
        <p:spPr>
          <a:xfrm xmlns:a="http://schemas.openxmlformats.org/drawingml/2006/main">
            <a:off x="612648" y="987552"/>
            <a:ext cx="106984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595465"/>
                </a:solidFill>
                <a:latin typeface="Arial"/>
                <a:ea typeface="Arial"/>
                <a:cs typeface="Arial"/>
              </a:rPr>
              <a:t>These are two of the most important parts of my capstone.</a:t>
            </a:r>
            <a:endParaRPr sz="1500"/>
          </a:p>
        </p:txBody>
      </p:sp>
      <p:sp>
        <p:nvSpPr>
          <p:cNvPr id="5" name="Shape 2">
            <a:extLst xmlns:a="http://schemas.openxmlformats.org/drawingml/2006/main">
              <a:ext uri="{FF2B5EF4-FFF2-40B4-BE49-F238E27FC236}">
                <a16:creationId xmlns:a16="http://schemas.microsoft.com/office/drawing/2014/main" id="{88A8DA3D-D38C-49CB-9758-F8CACFF9D64B}"/>
              </a:ext>
            </a:extLst>
          </p:cNvPr>
          <p:cNvSpPr>
            <a:spLocks xmlns:a="http://schemas.openxmlformats.org/drawingml/2006/main" noGrp="1"/>
          </p:cNvSpPr>
          <p:nvPr/>
        </p:nvSpPr>
        <p:spPr>
          <a:xfrm xmlns:a="http://schemas.openxmlformats.org/drawingml/2006/main">
            <a:off x="548640" y="1508760"/>
            <a:ext cx="2560320" cy="3520440"/>
          </a:xfrm>
          <a:prstGeom xmlns:a="http://schemas.openxmlformats.org/drawingml/2006/main" prst="roundRect">
            <a:avLst/>
          </a:prstGeom>
          <a:solidFill xmlns:a="http://schemas.openxmlformats.org/drawingml/2006/main">
            <a:srgbClr val="FFFFFF"/>
          </a:solidFill>
          <a:ln xmlns:a="http://schemas.openxmlformats.org/drawingml/2006/main" w="25400">
            <a:solidFill>
              <a:srgbClr val="FF1493"/>
            </a:solidFill>
            <a:prstDash val="solid"/>
          </a:ln>
        </p:spPr>
      </p:sp>
      <p:sp>
        <p:nvSpPr>
          <p:cNvPr id="6" name="Text 3">
            <a:extLst xmlns:a="http://schemas.openxmlformats.org/drawingml/2006/main">
              <a:ext uri="{FF2B5EF4-FFF2-40B4-BE49-F238E27FC236}">
                <a16:creationId xmlns:a16="http://schemas.microsoft.com/office/drawing/2014/main" id="{18CCCA1F-C7DE-4BB2-84F3-FC0EE2240444}"/>
              </a:ext>
            </a:extLst>
          </p:cNvPr>
          <p:cNvSpPr>
            <a:spLocks xmlns:a="http://schemas.openxmlformats.org/drawingml/2006/main" noGrp="1"/>
          </p:cNvSpPr>
          <p:nvPr/>
        </p:nvSpPr>
        <p:spPr>
          <a:xfrm xmlns:a="http://schemas.openxmlformats.org/drawingml/2006/main">
            <a:off x="749808" y="1691640"/>
            <a:ext cx="215798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11015"/>
                </a:solidFill>
              </a:rPr>
              <a:t>CREATE</a:t>
            </a:r>
            <a:endParaRPr sz="2000"/>
          </a:p>
        </p:txBody>
      </p:sp>
      <p:sp>
        <p:nvSpPr>
          <p:cNvPr id="7" name="Text 4">
            <a:extLst xmlns:a="http://schemas.openxmlformats.org/drawingml/2006/main">
              <a:ext uri="{FF2B5EF4-FFF2-40B4-BE49-F238E27FC236}">
                <a16:creationId xmlns:a16="http://schemas.microsoft.com/office/drawing/2014/main" id="{C023ABE4-6355-4264-8EF2-814D13FFAD5B}"/>
              </a:ext>
            </a:extLst>
          </p:cNvPr>
          <p:cNvSpPr>
            <a:spLocks xmlns:a="http://schemas.openxmlformats.org/drawingml/2006/main" noGrp="1"/>
          </p:cNvSpPr>
          <p:nvPr/>
        </p:nvSpPr>
        <p:spPr>
          <a:xfrm xmlns:a="http://schemas.openxmlformats.org/drawingml/2006/main">
            <a:off x="749808" y="2240280"/>
            <a:ext cx="2157984" cy="2606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595465"/>
                </a:solidFill>
              </a:rPr>
              <a:t>POST</a:t>
            </a:r>
            <a:endParaRPr sz="1700"/>
          </a:p>
          <a:p xmlns:a="http://schemas.openxmlformats.org/drawingml/2006/main">
            <a:pPr marL="0" indent="0">
              <a:buNone/>
            </a:pPr>
            <a:r>
              <a:rPr sz="1700">
                <a:solidFill>
                  <a:srgbClr val="595465"/>
                </a:solidFill>
              </a:rPr>
              <a:t>Add equipment or submit a request.</a:t>
            </a:r>
            <a:endParaRPr sz="1700"/>
          </a:p>
        </p:txBody>
      </p:sp>
      <p:sp>
        <p:nvSpPr>
          <p:cNvPr id="8" name="Shape 5">
            <a:extLst xmlns:a="http://schemas.openxmlformats.org/drawingml/2006/main">
              <a:ext uri="{FF2B5EF4-FFF2-40B4-BE49-F238E27FC236}">
                <a16:creationId xmlns:a16="http://schemas.microsoft.com/office/drawing/2014/main" id="{3903A56F-80D0-4729-82AE-167CC62102CF}"/>
              </a:ext>
            </a:extLst>
          </p:cNvPr>
          <p:cNvSpPr>
            <a:spLocks xmlns:a="http://schemas.openxmlformats.org/drawingml/2006/main" noGrp="1"/>
          </p:cNvSpPr>
          <p:nvPr/>
        </p:nvSpPr>
        <p:spPr>
          <a:xfrm xmlns:a="http://schemas.openxmlformats.org/drawingml/2006/main">
            <a:off x="3246120" y="1508760"/>
            <a:ext cx="2560320" cy="3520440"/>
          </a:xfrm>
          <a:prstGeom xmlns:a="http://schemas.openxmlformats.org/drawingml/2006/main" prst="roundRect">
            <a:avLst/>
          </a:prstGeom>
          <a:solidFill xmlns:a="http://schemas.openxmlformats.org/drawingml/2006/main">
            <a:srgbClr val="FFFFFF"/>
          </a:solidFill>
          <a:ln xmlns:a="http://schemas.openxmlformats.org/drawingml/2006/main" w="25400">
            <a:solidFill>
              <a:srgbClr val="26D9CF"/>
            </a:solidFill>
            <a:prstDash val="solid"/>
          </a:ln>
        </p:spPr>
      </p:sp>
      <p:sp>
        <p:nvSpPr>
          <p:cNvPr id="9" name="Text 6">
            <a:extLst xmlns:a="http://schemas.openxmlformats.org/drawingml/2006/main">
              <a:ext uri="{FF2B5EF4-FFF2-40B4-BE49-F238E27FC236}">
                <a16:creationId xmlns:a16="http://schemas.microsoft.com/office/drawing/2014/main" id="{8CDF31CF-01FC-4EFB-8E73-5FDB135E1988}"/>
              </a:ext>
            </a:extLst>
          </p:cNvPr>
          <p:cNvSpPr>
            <a:spLocks xmlns:a="http://schemas.openxmlformats.org/drawingml/2006/main" noGrp="1"/>
          </p:cNvSpPr>
          <p:nvPr/>
        </p:nvSpPr>
        <p:spPr>
          <a:xfrm xmlns:a="http://schemas.openxmlformats.org/drawingml/2006/main">
            <a:off x="3447288" y="1691640"/>
            <a:ext cx="215798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11015"/>
                </a:solidFill>
              </a:rPr>
              <a:t>READ</a:t>
            </a:r>
            <a:endParaRPr sz="2000"/>
          </a:p>
        </p:txBody>
      </p:sp>
      <p:sp>
        <p:nvSpPr>
          <p:cNvPr id="10" name="Text 7">
            <a:extLst xmlns:a="http://schemas.openxmlformats.org/drawingml/2006/main">
              <a:ext uri="{FF2B5EF4-FFF2-40B4-BE49-F238E27FC236}">
                <a16:creationId xmlns:a16="http://schemas.microsoft.com/office/drawing/2014/main" id="{9A1173D4-4F99-48E8-BAD1-29C6823114A0}"/>
              </a:ext>
            </a:extLst>
          </p:cNvPr>
          <p:cNvSpPr>
            <a:spLocks xmlns:a="http://schemas.openxmlformats.org/drawingml/2006/main" noGrp="1"/>
          </p:cNvSpPr>
          <p:nvPr/>
        </p:nvSpPr>
        <p:spPr>
          <a:xfrm xmlns:a="http://schemas.openxmlformats.org/drawingml/2006/main">
            <a:off x="3447288" y="2240280"/>
            <a:ext cx="2157984" cy="2606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595465"/>
                </a:solidFill>
              </a:rPr>
              <a:t>GET</a:t>
            </a:r>
            <a:endParaRPr sz="1700"/>
          </a:p>
          <a:p xmlns:a="http://schemas.openxmlformats.org/drawingml/2006/main">
            <a:pPr marL="0" indent="0">
              <a:buNone/>
            </a:pPr>
            <a:r>
              <a:rPr sz="1700">
                <a:solidFill>
                  <a:srgbClr val="595465"/>
                </a:solidFill>
              </a:rPr>
              <a:t>View equipment, lessons, and requests.</a:t>
            </a:r>
            <a:endParaRPr sz="1700"/>
          </a:p>
        </p:txBody>
      </p:sp>
      <p:sp>
        <p:nvSpPr>
          <p:cNvPr id="11" name="Shape 8">
            <a:extLst xmlns:a="http://schemas.openxmlformats.org/drawingml/2006/main">
              <a:ext uri="{FF2B5EF4-FFF2-40B4-BE49-F238E27FC236}">
                <a16:creationId xmlns:a16="http://schemas.microsoft.com/office/drawing/2014/main" id="{0EB8F490-4D45-4652-96FB-B01FBAAB4AE3}"/>
              </a:ext>
            </a:extLst>
          </p:cNvPr>
          <p:cNvSpPr>
            <a:spLocks xmlns:a="http://schemas.openxmlformats.org/drawingml/2006/main" noGrp="1"/>
          </p:cNvSpPr>
          <p:nvPr/>
        </p:nvSpPr>
        <p:spPr>
          <a:xfrm xmlns:a="http://schemas.openxmlformats.org/drawingml/2006/main">
            <a:off x="5943600" y="1508760"/>
            <a:ext cx="2560320" cy="3520440"/>
          </a:xfrm>
          <a:prstGeom xmlns:a="http://schemas.openxmlformats.org/drawingml/2006/main" prst="roundRect">
            <a:avLst/>
          </a:prstGeom>
          <a:solidFill xmlns:a="http://schemas.openxmlformats.org/drawingml/2006/main">
            <a:srgbClr val="FFFFFF"/>
          </a:solidFill>
          <a:ln xmlns:a="http://schemas.openxmlformats.org/drawingml/2006/main" w="25400">
            <a:solidFill>
              <a:srgbClr val="9D6CFF"/>
            </a:solidFill>
            <a:prstDash val="solid"/>
          </a:ln>
        </p:spPr>
      </p:sp>
      <p:sp>
        <p:nvSpPr>
          <p:cNvPr id="12" name="Text 9">
            <a:extLst xmlns:a="http://schemas.openxmlformats.org/drawingml/2006/main">
              <a:ext uri="{FF2B5EF4-FFF2-40B4-BE49-F238E27FC236}">
                <a16:creationId xmlns:a16="http://schemas.microsoft.com/office/drawing/2014/main" id="{DE10A926-E486-47A6-BA48-D04F87C34A36}"/>
              </a:ext>
            </a:extLst>
          </p:cNvPr>
          <p:cNvSpPr>
            <a:spLocks xmlns:a="http://schemas.openxmlformats.org/drawingml/2006/main" noGrp="1"/>
          </p:cNvSpPr>
          <p:nvPr/>
        </p:nvSpPr>
        <p:spPr>
          <a:xfrm xmlns:a="http://schemas.openxmlformats.org/drawingml/2006/main">
            <a:off x="6144768" y="1691640"/>
            <a:ext cx="215798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11015"/>
                </a:solidFill>
              </a:rPr>
              <a:t>UPDATE</a:t>
            </a:r>
            <a:endParaRPr sz="2000"/>
          </a:p>
        </p:txBody>
      </p:sp>
      <p:sp>
        <p:nvSpPr>
          <p:cNvPr id="13" name="Text 10">
            <a:extLst xmlns:a="http://schemas.openxmlformats.org/drawingml/2006/main">
              <a:ext uri="{FF2B5EF4-FFF2-40B4-BE49-F238E27FC236}">
                <a16:creationId xmlns:a16="http://schemas.microsoft.com/office/drawing/2014/main" id="{E3FF5A9D-E597-40DC-9F3E-326893BDE14A}"/>
              </a:ext>
            </a:extLst>
          </p:cNvPr>
          <p:cNvSpPr>
            <a:spLocks xmlns:a="http://schemas.openxmlformats.org/drawingml/2006/main" noGrp="1"/>
          </p:cNvSpPr>
          <p:nvPr/>
        </p:nvSpPr>
        <p:spPr>
          <a:xfrm xmlns:a="http://schemas.openxmlformats.org/drawingml/2006/main">
            <a:off x="6144768" y="2240280"/>
            <a:ext cx="2157984" cy="2606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595465"/>
                </a:solidFill>
              </a:rPr>
              <a:t>PATCH</a:t>
            </a:r>
            <a:endParaRPr sz="1700"/>
          </a:p>
          <a:p xmlns:a="http://schemas.openxmlformats.org/drawingml/2006/main">
            <a:pPr marL="0" indent="0">
              <a:buNone/>
            </a:pPr>
            <a:r>
              <a:rPr sz="1700">
                <a:solidFill>
                  <a:srgbClr val="595465"/>
                </a:solidFill>
              </a:rPr>
              <a:t>Edit equipment or a pending request.</a:t>
            </a:r>
            <a:endParaRPr sz="1700"/>
          </a:p>
        </p:txBody>
      </p:sp>
      <p:sp>
        <p:nvSpPr>
          <p:cNvPr id="14" name="Shape 11">
            <a:extLst xmlns:a="http://schemas.openxmlformats.org/drawingml/2006/main">
              <a:ext uri="{FF2B5EF4-FFF2-40B4-BE49-F238E27FC236}">
                <a16:creationId xmlns:a16="http://schemas.microsoft.com/office/drawing/2014/main" id="{6E3A9258-3EF5-4587-9C51-4BB0825F223D}"/>
              </a:ext>
            </a:extLst>
          </p:cNvPr>
          <p:cNvSpPr>
            <a:spLocks xmlns:a="http://schemas.openxmlformats.org/drawingml/2006/main" noGrp="1"/>
          </p:cNvSpPr>
          <p:nvPr/>
        </p:nvSpPr>
        <p:spPr>
          <a:xfrm xmlns:a="http://schemas.openxmlformats.org/drawingml/2006/main">
            <a:off x="8641080" y="1508760"/>
            <a:ext cx="2560320" cy="3520440"/>
          </a:xfrm>
          <a:prstGeom xmlns:a="http://schemas.openxmlformats.org/drawingml/2006/main" prst="roundRect">
            <a:avLst/>
          </a:prstGeom>
          <a:solidFill xmlns:a="http://schemas.openxmlformats.org/drawingml/2006/main">
            <a:srgbClr val="FFFFFF"/>
          </a:solidFill>
          <a:ln xmlns:a="http://schemas.openxmlformats.org/drawingml/2006/main" w="25400">
            <a:solidFill>
              <a:srgbClr val="FFE66D"/>
            </a:solidFill>
            <a:prstDash val="solid"/>
          </a:ln>
        </p:spPr>
      </p:sp>
      <p:sp>
        <p:nvSpPr>
          <p:cNvPr id="15" name="Text 12">
            <a:extLst xmlns:a="http://schemas.openxmlformats.org/drawingml/2006/main">
              <a:ext uri="{FF2B5EF4-FFF2-40B4-BE49-F238E27FC236}">
                <a16:creationId xmlns:a16="http://schemas.microsoft.com/office/drawing/2014/main" id="{A972AAEF-2FF2-47EE-ADDD-3B3456010D33}"/>
              </a:ext>
            </a:extLst>
          </p:cNvPr>
          <p:cNvSpPr>
            <a:spLocks xmlns:a="http://schemas.openxmlformats.org/drawingml/2006/main" noGrp="1"/>
          </p:cNvSpPr>
          <p:nvPr/>
        </p:nvSpPr>
        <p:spPr>
          <a:xfrm xmlns:a="http://schemas.openxmlformats.org/drawingml/2006/main">
            <a:off x="8842248" y="1691640"/>
            <a:ext cx="215798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11015"/>
                </a:solidFill>
              </a:rPr>
              <a:t>DELETE</a:t>
            </a:r>
            <a:endParaRPr sz="2000"/>
          </a:p>
        </p:txBody>
      </p:sp>
      <p:sp>
        <p:nvSpPr>
          <p:cNvPr id="16" name="Text 13">
            <a:extLst xmlns:a="http://schemas.openxmlformats.org/drawingml/2006/main">
              <a:ext uri="{FF2B5EF4-FFF2-40B4-BE49-F238E27FC236}">
                <a16:creationId xmlns:a16="http://schemas.microsoft.com/office/drawing/2014/main" id="{492D7E1A-11E9-4079-971E-124AB159DFD0}"/>
              </a:ext>
            </a:extLst>
          </p:cNvPr>
          <p:cNvSpPr>
            <a:spLocks xmlns:a="http://schemas.openxmlformats.org/drawingml/2006/main" noGrp="1"/>
          </p:cNvSpPr>
          <p:nvPr/>
        </p:nvSpPr>
        <p:spPr>
          <a:xfrm xmlns:a="http://schemas.openxmlformats.org/drawingml/2006/main">
            <a:off x="8842248" y="2240280"/>
            <a:ext cx="2157984" cy="2606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595465"/>
                </a:solidFill>
              </a:rPr>
              <a:t>DELETE</a:t>
            </a:r>
            <a:endParaRPr sz="1700"/>
          </a:p>
          <a:p xmlns:a="http://schemas.openxmlformats.org/drawingml/2006/main">
            <a:pPr marL="0" indent="0">
              <a:buNone/>
            </a:pPr>
            <a:r>
              <a:rPr sz="1700">
                <a:solidFill>
                  <a:srgbClr val="595465"/>
                </a:solidFill>
              </a:rPr>
              <a:t>Remove or archive data when allowed.</a:t>
            </a:r>
            <a:endParaRPr sz="1700"/>
          </a:p>
        </p:txBody>
      </p:sp>
      <p:sp>
        <p:nvSpPr>
          <p:cNvPr id="17" name="Shape 14">
            <a:extLst xmlns:a="http://schemas.openxmlformats.org/drawingml/2006/main">
              <a:ext uri="{FF2B5EF4-FFF2-40B4-BE49-F238E27FC236}">
                <a16:creationId xmlns:a16="http://schemas.microsoft.com/office/drawing/2014/main" id="{738D872B-DCFA-4060-A09B-EB0DFDE1BEDD}"/>
              </a:ext>
            </a:extLst>
          </p:cNvPr>
          <p:cNvSpPr>
            <a:spLocks xmlns:a="http://schemas.openxmlformats.org/drawingml/2006/main" noGrp="1"/>
          </p:cNvSpPr>
          <p:nvPr/>
        </p:nvSpPr>
        <p:spPr>
          <a:xfrm xmlns:a="http://schemas.openxmlformats.org/drawingml/2006/main">
            <a:off x="1828800" y="5760720"/>
            <a:ext cx="8503920" cy="457200"/>
          </a:xfrm>
          <a:prstGeom xmlns:a="http://schemas.openxmlformats.org/drawingml/2006/main" prst="roundRect">
            <a:avLst/>
          </a:prstGeom>
          <a:solidFill xmlns:a="http://schemas.openxmlformats.org/drawingml/2006/main">
            <a:srgbClr val="111015"/>
          </a:solidFill>
          <a:ln xmlns:a="http://schemas.openxmlformats.org/drawingml/2006/main" w="12700">
            <a:solidFill>
              <a:srgbClr val="111015"/>
            </a:solidFill>
            <a:prstDash val="solid"/>
          </a:ln>
        </p:spPr>
      </p:sp>
      <p:sp>
        <p:nvSpPr>
          <p:cNvPr id="18" name="Text 15">
            <a:extLst xmlns:a="http://schemas.openxmlformats.org/drawingml/2006/main">
              <a:ext uri="{FF2B5EF4-FFF2-40B4-BE49-F238E27FC236}">
                <a16:creationId xmlns:a16="http://schemas.microsoft.com/office/drawing/2014/main" id="{91C110E3-4E52-4464-870F-2726D2FBF588}"/>
              </a:ext>
            </a:extLst>
          </p:cNvPr>
          <p:cNvSpPr>
            <a:spLocks xmlns:a="http://schemas.openxmlformats.org/drawingml/2006/main" noGrp="1"/>
          </p:cNvSpPr>
          <p:nvPr/>
        </p:nvSpPr>
        <p:spPr>
          <a:xfrm xmlns:a="http://schemas.openxmlformats.org/drawingml/2006/main">
            <a:off x="1965960" y="5879592"/>
            <a:ext cx="8229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rPr>
              <a:t>Security: bcrypt + JWT + role checks + ownership checks</a:t>
            </a:r>
            <a:endParaRPr sz="1300"/>
          </a:p>
        </p:txBody>
      </p:sp>
      <p:sp>
        <p:nvSpPr>
          <p:cNvPr id="25" name="Slide Number Placeholder 0">
            <a:extLst xmlns:a="http://schemas.openxmlformats.org/drawingml/2006/main">
              <a:ext uri="{FF2B5EF4-FFF2-40B4-BE49-F238E27FC236}">
                <a16:creationId xmlns:a16="http://schemas.microsoft.com/office/drawing/2014/main" id="{3FA871A5-8918-42BD-8532-804372FD0D24}"/>
              </a:ext>
            </a:extLst>
          </p:cNvPr>
          <p:cNvSpPr>
            <a:spLocks xmlns:a="http://schemas.openxmlformats.org/drawingml/2006/main" noGrp="1"/>
          </p:cNvSpPr>
          <p:nvPr>
            <p:ph type="sldNum" idx="4294967295"/>
          </p:nvPr>
        </p:nvSpPr>
        <p:spPr>
          <a:xfrm xmlns:a="http://schemas.openxmlformats.org/drawingml/2006/main">
            <a:off x="11201400" y="6400800"/>
            <a:ext cx="411480" cy="182880"/>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95465"/>
                </a:solidFill>
              </a:defRPr>
            </a:lvl1pPr>
          </a:lstStyle>
          <a:p xmlns:a="http://schemas.openxmlformats.org/drawingml/2006/main">
            <a:pPr algn="l">
              <a:buNone/>
            </a:pPr>
            <a:fld id="{F7021451-1387-4CA6-816F-3879F97B5CBC}" type="slidenum">
              <a:rPr b="0"/>
              <a:t>5</a:t>
            </a:fld>
            <a:endParaRPr/>
          </a:p>
        </p:txBody>
      </p:sp>
    </p:spTree>
    <p:extLst>
      <p:ext uri="{BB962C8B-B14F-4D97-AF65-F5344CB8AC3E}">
        <p14:creationId xmlns:p14="http://schemas.microsoft.com/office/powerpoint/2010/main" val="146328921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1E3F8663-4A9F-4999-9B93-1D724BC2BEB8}"/>
              </a:ext>
            </a:extLst>
          </p:cNvPr>
          <p:cNvPicPr>
            <a:picLocks xmlns:a="http://schemas.openxmlformats.org/drawingml/2006/main" noChangeAspect="1"/>
          </p:cNvPicPr>
          <p:nvPr/>
        </p:nvPicPr>
        <p:blipFill>
          <a:blip xmlns:r="http://schemas.openxmlformats.org/officeDocument/2006/relationships" xmlns:a="http://schemas.openxmlformats.org/drawingml/2006/main" r:embed="R3d666ab560d44e69"/>
          <a:srcRect xmlns:a="http://schemas.openxmlformats.org/drawingml/2006/main" l="0" t="0" r="0" b="0"/>
          <a:stretch xmlns:a="http://schemas.openxmlformats.org/drawingml/2006/main">
            <a:fillRect l="0" t="0" r="0" b="0"/>
          </a:stretch>
        </p:blipFill>
        <p:spPr>
          <a:xfrm xmlns:a="http://schemas.openxmlformats.org/drawingml/2006/main">
            <a:off x="10648950" y="133350"/>
            <a:ext cx="971550" cy="97155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FE614B9-6738-41D5-8387-FCC132F1AB64}"/>
              </a:ext>
            </a:extLst>
          </p:cNvPr>
          <p:cNvSpPr>
            <a:spLocks xmlns:a="http://schemas.openxmlformats.org/drawingml/2006/main" noGrp="1"/>
          </p:cNvSpPr>
          <p:nvPr/>
        </p:nvSpPr>
        <p:spPr>
          <a:xfrm xmlns:a="http://schemas.openxmlformats.org/drawingml/2006/main">
            <a:off x="594360" y="411480"/>
            <a:ext cx="9052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11015"/>
                </a:solidFill>
                <a:latin typeface="Arial"/>
                <a:ea typeface="Arial"/>
                <a:cs typeface="Arial"/>
              </a:rPr>
              <a:t>Tools I Used and Learned</a:t>
            </a:r>
            <a:endParaRPr sz="3000"/>
          </a:p>
        </p:txBody>
      </p:sp>
      <p:sp>
        <p:nvSpPr>
          <p:cNvPr id="4" name="Text 1">
            <a:extLst xmlns:a="http://schemas.openxmlformats.org/drawingml/2006/main">
              <a:ext uri="{FF2B5EF4-FFF2-40B4-BE49-F238E27FC236}">
                <a16:creationId xmlns:a16="http://schemas.microsoft.com/office/drawing/2014/main" id="{8A2E0613-642D-49D4-90B9-CBF220BC0F76}"/>
              </a:ext>
            </a:extLst>
          </p:cNvPr>
          <p:cNvSpPr>
            <a:spLocks xmlns:a="http://schemas.openxmlformats.org/drawingml/2006/main" noGrp="1"/>
          </p:cNvSpPr>
          <p:nvPr/>
        </p:nvSpPr>
        <p:spPr>
          <a:xfrm xmlns:a="http://schemas.openxmlformats.org/drawingml/2006/main">
            <a:off x="612648" y="987552"/>
            <a:ext cx="106984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595465"/>
                </a:solidFill>
                <a:latin typeface="Arial"/>
                <a:ea typeface="Arial"/>
                <a:cs typeface="Arial"/>
              </a:rPr>
              <a:t>I used the right tools for the MVP and learned additional technologies in the course.</a:t>
            </a:r>
            <a:endParaRPr sz="1500"/>
          </a:p>
        </p:txBody>
      </p:sp>
      <p:sp>
        <p:nvSpPr>
          <p:cNvPr id="5" name="Shape 2">
            <a:extLst xmlns:a="http://schemas.openxmlformats.org/drawingml/2006/main">
              <a:ext uri="{FF2B5EF4-FFF2-40B4-BE49-F238E27FC236}">
                <a16:creationId xmlns:a16="http://schemas.microsoft.com/office/drawing/2014/main" id="{AB6F852E-83DE-4EA9-BF30-F9D6D66A3592}"/>
              </a:ext>
            </a:extLst>
          </p:cNvPr>
          <p:cNvSpPr>
            <a:spLocks xmlns:a="http://schemas.openxmlformats.org/drawingml/2006/main" noGrp="1"/>
          </p:cNvSpPr>
          <p:nvPr/>
        </p:nvSpPr>
        <p:spPr>
          <a:xfrm xmlns:a="http://schemas.openxmlformats.org/drawingml/2006/main">
            <a:off x="640080" y="1554480"/>
            <a:ext cx="5303520" cy="3931920"/>
          </a:xfrm>
          <a:prstGeom xmlns:a="http://schemas.openxmlformats.org/drawingml/2006/main" prst="roundRect">
            <a:avLst/>
          </a:prstGeom>
          <a:solidFill xmlns:a="http://schemas.openxmlformats.org/drawingml/2006/main">
            <a:srgbClr val="FFFFFF"/>
          </a:solidFill>
          <a:ln xmlns:a="http://schemas.openxmlformats.org/drawingml/2006/main" w="25400">
            <a:solidFill>
              <a:srgbClr val="FF1493"/>
            </a:solidFill>
            <a:prstDash val="solid"/>
          </a:ln>
        </p:spPr>
      </p:sp>
      <p:sp>
        <p:nvSpPr>
          <p:cNvPr id="6" name="Text 3">
            <a:extLst xmlns:a="http://schemas.openxmlformats.org/drawingml/2006/main">
              <a:ext uri="{FF2B5EF4-FFF2-40B4-BE49-F238E27FC236}">
                <a16:creationId xmlns:a16="http://schemas.microsoft.com/office/drawing/2014/main" id="{DC0F6A11-432D-473F-B34E-B273705862EC}"/>
              </a:ext>
            </a:extLst>
          </p:cNvPr>
          <p:cNvSpPr>
            <a:spLocks xmlns:a="http://schemas.openxmlformats.org/drawingml/2006/main" noGrp="1"/>
          </p:cNvSpPr>
          <p:nvPr/>
        </p:nvSpPr>
        <p:spPr>
          <a:xfrm xmlns:a="http://schemas.openxmlformats.org/drawingml/2006/main">
            <a:off x="841248" y="1737360"/>
            <a:ext cx="490118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11015"/>
                </a:solidFill>
              </a:rPr>
              <a:t>Used Directly in Tech It &amp; Go!</a:t>
            </a:r>
            <a:endParaRPr sz="2000"/>
          </a:p>
        </p:txBody>
      </p:sp>
      <p:sp>
        <p:nvSpPr>
          <p:cNvPr id="7" name="Text 4">
            <a:extLst xmlns:a="http://schemas.openxmlformats.org/drawingml/2006/main">
              <a:ext uri="{FF2B5EF4-FFF2-40B4-BE49-F238E27FC236}">
                <a16:creationId xmlns:a16="http://schemas.microsoft.com/office/drawing/2014/main" id="{F4B4A450-0723-4DD7-B81E-6E10A20966DD}"/>
              </a:ext>
            </a:extLst>
          </p:cNvPr>
          <p:cNvSpPr>
            <a:spLocks xmlns:a="http://schemas.openxmlformats.org/drawingml/2006/main" noGrp="1"/>
          </p:cNvSpPr>
          <p:nvPr/>
        </p:nvSpPr>
        <p:spPr>
          <a:xfrm xmlns:a="http://schemas.openxmlformats.org/drawingml/2006/main">
            <a:off x="841248" y="2286000"/>
            <a:ext cx="4901184" cy="30175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595465"/>
                </a:solidFill>
              </a:rPr>
              <a:t>HTML5 • CSS3 • JavaScript</a:t>
            </a:r>
            <a:endParaRPr sz="1700"/>
          </a:p>
          <a:p xmlns:a="http://schemas.openxmlformats.org/drawingml/2006/main">
            <a:pPr marL="0" indent="0">
              <a:buNone/>
            </a:pPr>
            <a:r>
              <a:rPr sz="1700">
                <a:solidFill>
                  <a:srgbClr val="595465"/>
                </a:solidFill>
              </a:rPr>
              <a:t>React • Vite • React Router</a:t>
            </a:r>
            <a:endParaRPr sz="1700"/>
          </a:p>
          <a:p xmlns:a="http://schemas.openxmlformats.org/drawingml/2006/main">
            <a:pPr marL="0" indent="0">
              <a:buNone/>
            </a:pPr>
            <a:r>
              <a:rPr sz="1700">
                <a:solidFill>
                  <a:srgbClr val="595465"/>
                </a:solidFill>
              </a:rPr>
              <a:t>Node.js • Express.js • REST API</a:t>
            </a:r>
            <a:endParaRPr sz="1700"/>
          </a:p>
          <a:p xmlns:a="http://schemas.openxmlformats.org/drawingml/2006/main">
            <a:pPr marL="0" indent="0">
              <a:buNone/>
            </a:pPr>
            <a:r>
              <a:rPr sz="1700">
                <a:solidFill>
                  <a:srgbClr val="595465"/>
                </a:solidFill>
              </a:rPr>
              <a:t>MongoDB Atlas • Mongoose</a:t>
            </a:r>
            <a:endParaRPr sz="1700"/>
          </a:p>
          <a:p xmlns:a="http://schemas.openxmlformats.org/drawingml/2006/main">
            <a:pPr marL="0" indent="0">
              <a:buNone/>
            </a:pPr>
            <a:r>
              <a:rPr sz="1700">
                <a:solidFill>
                  <a:srgbClr val="595465"/>
                </a:solidFill>
              </a:rPr>
              <a:t>bcrypt • JWT • dotenv • CORS</a:t>
            </a:r>
            <a:endParaRPr sz="1700"/>
          </a:p>
          <a:p xmlns:a="http://schemas.openxmlformats.org/drawingml/2006/main">
            <a:pPr marL="0" indent="0">
              <a:buNone/>
            </a:pPr>
            <a:r>
              <a:rPr sz="1700">
                <a:solidFill>
                  <a:srgbClr val="595465"/>
                </a:solidFill>
              </a:rPr>
              <a:t>Git • GitHub • Postman • Supertest</a:t>
            </a:r>
            <a:endParaRPr sz="1700"/>
          </a:p>
        </p:txBody>
      </p:sp>
      <p:sp>
        <p:nvSpPr>
          <p:cNvPr id="8" name="Shape 5">
            <a:extLst xmlns:a="http://schemas.openxmlformats.org/drawingml/2006/main">
              <a:ext uri="{FF2B5EF4-FFF2-40B4-BE49-F238E27FC236}">
                <a16:creationId xmlns:a16="http://schemas.microsoft.com/office/drawing/2014/main" id="{CDD035AB-A641-49CA-BAA8-D111FF3A9550}"/>
              </a:ext>
            </a:extLst>
          </p:cNvPr>
          <p:cNvSpPr>
            <a:spLocks xmlns:a="http://schemas.openxmlformats.org/drawingml/2006/main" noGrp="1"/>
          </p:cNvSpPr>
          <p:nvPr/>
        </p:nvSpPr>
        <p:spPr>
          <a:xfrm xmlns:a="http://schemas.openxmlformats.org/drawingml/2006/main">
            <a:off x="6263640" y="1554480"/>
            <a:ext cx="5303520" cy="3931920"/>
          </a:xfrm>
          <a:prstGeom xmlns:a="http://schemas.openxmlformats.org/drawingml/2006/main" prst="roundRect">
            <a:avLst/>
          </a:prstGeom>
          <a:solidFill xmlns:a="http://schemas.openxmlformats.org/drawingml/2006/main">
            <a:srgbClr val="FFFFFF"/>
          </a:solidFill>
          <a:ln xmlns:a="http://schemas.openxmlformats.org/drawingml/2006/main" w="25400">
            <a:solidFill>
              <a:srgbClr val="26D9CF"/>
            </a:solidFill>
            <a:prstDash val="solid"/>
          </a:ln>
        </p:spPr>
      </p:sp>
      <p:sp>
        <p:nvSpPr>
          <p:cNvPr id="9" name="Text 6">
            <a:extLst xmlns:a="http://schemas.openxmlformats.org/drawingml/2006/main">
              <a:ext uri="{FF2B5EF4-FFF2-40B4-BE49-F238E27FC236}">
                <a16:creationId xmlns:a16="http://schemas.microsoft.com/office/drawing/2014/main" id="{BB9C0978-A81D-4DB6-AE8A-752152589B27}"/>
              </a:ext>
            </a:extLst>
          </p:cNvPr>
          <p:cNvSpPr>
            <a:spLocks xmlns:a="http://schemas.openxmlformats.org/drawingml/2006/main" noGrp="1"/>
          </p:cNvSpPr>
          <p:nvPr/>
        </p:nvSpPr>
        <p:spPr>
          <a:xfrm xmlns:a="http://schemas.openxmlformats.org/drawingml/2006/main">
            <a:off x="6464808" y="1737360"/>
            <a:ext cx="490118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11015"/>
                </a:solidFill>
              </a:rPr>
              <a:t>Other Course Skills</a:t>
            </a:r>
            <a:endParaRPr sz="2000"/>
          </a:p>
        </p:txBody>
      </p:sp>
      <p:sp>
        <p:nvSpPr>
          <p:cNvPr id="10" name="Text 7">
            <a:extLst xmlns:a="http://schemas.openxmlformats.org/drawingml/2006/main">
              <a:ext uri="{FF2B5EF4-FFF2-40B4-BE49-F238E27FC236}">
                <a16:creationId xmlns:a16="http://schemas.microsoft.com/office/drawing/2014/main" id="{56F7AAD4-2EEC-45D2-A99A-C5AC74B8E888}"/>
              </a:ext>
            </a:extLst>
          </p:cNvPr>
          <p:cNvSpPr>
            <a:spLocks xmlns:a="http://schemas.openxmlformats.org/drawingml/2006/main" noGrp="1"/>
          </p:cNvSpPr>
          <p:nvPr/>
        </p:nvSpPr>
        <p:spPr>
          <a:xfrm xmlns:a="http://schemas.openxmlformats.org/drawingml/2006/main">
            <a:off x="6464808" y="2286000"/>
            <a:ext cx="4901184" cy="30175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595465"/>
                </a:solidFill>
              </a:rPr>
              <a:t>TypeScript • DOM</a:t>
            </a:r>
            <a:endParaRPr sz="1700"/>
          </a:p>
          <a:p xmlns:a="http://schemas.openxmlformats.org/drawingml/2006/main">
            <a:pPr marL="0" indent="0">
              <a:buNone/>
            </a:pPr>
            <a:r>
              <a:rPr sz="1700">
                <a:solidFill>
                  <a:srgbClr val="595465"/>
                </a:solidFill>
              </a:rPr>
              <a:t>GraphQL • OAuth 2.0</a:t>
            </a:r>
            <a:endParaRPr sz="1700"/>
          </a:p>
          <a:p xmlns:a="http://schemas.openxmlformats.org/drawingml/2006/main">
            <a:pPr marL="0" indent="0">
              <a:buNone/>
            </a:pPr>
            <a:r>
              <a:rPr sz="1700">
                <a:solidFill>
                  <a:srgbClr val="595465"/>
                </a:solidFill>
              </a:rPr>
              <a:t>Java / Spring Boot concepts</a:t>
            </a:r>
            <a:endParaRPr sz="1700"/>
          </a:p>
          <a:p xmlns:a="http://schemas.openxmlformats.org/drawingml/2006/main">
            <a:pPr marL="0" indent="0">
              <a:buNone/>
            </a:pPr>
            <a:r>
              <a:rPr sz="1700">
                <a:solidFill>
                  <a:srgbClr val="595465"/>
                </a:solidFill>
              </a:rPr>
              <a:t>SQL + NoSQL concepts</a:t>
            </a:r>
            <a:endParaRPr sz="1700"/>
          </a:p>
          <a:p xmlns:a="http://schemas.openxmlformats.org/drawingml/2006/main">
            <a:pPr marL="0" indent="0">
              <a:buNone/>
            </a:pPr>
            <a:r>
              <a:rPr sz="1700">
                <a:solidFill>
                  <a:srgbClr val="595465"/>
                </a:solidFill>
              </a:rPr>
              <a:t>Agile workflow</a:t>
            </a:r>
            <a:endParaRPr sz="1700"/>
          </a:p>
          <a:p xmlns:a="http://schemas.openxmlformats.org/drawingml/2006/main">
            <a:pPr marL="0" indent="0">
              <a:buNone/>
            </a:pPr>
            <a:r>
              <a:rPr sz="1700">
                <a:solidFill>
                  <a:srgbClr val="595465"/>
                </a:solidFill>
              </a:rPr>
              <a:t>AI for Software Engineering</a:t>
            </a:r>
            <a:endParaRPr sz="1700"/>
          </a:p>
        </p:txBody>
      </p:sp>
      <p:sp>
        <p:nvSpPr>
          <p:cNvPr id="25" name="Slide Number Placeholder 0">
            <a:extLst xmlns:a="http://schemas.openxmlformats.org/drawingml/2006/main">
              <a:ext uri="{FF2B5EF4-FFF2-40B4-BE49-F238E27FC236}">
                <a16:creationId xmlns:a16="http://schemas.microsoft.com/office/drawing/2014/main" id="{67CB929E-F7C9-4168-B0C1-4515A96019DF}"/>
              </a:ext>
            </a:extLst>
          </p:cNvPr>
          <p:cNvSpPr>
            <a:spLocks xmlns:a="http://schemas.openxmlformats.org/drawingml/2006/main" noGrp="1"/>
          </p:cNvSpPr>
          <p:nvPr>
            <p:ph type="sldNum" idx="4294967295"/>
          </p:nvPr>
        </p:nvSpPr>
        <p:spPr>
          <a:xfrm xmlns:a="http://schemas.openxmlformats.org/drawingml/2006/main">
            <a:off x="11201400" y="6400800"/>
            <a:ext cx="411480" cy="182880"/>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95465"/>
                </a:solidFill>
              </a:defRPr>
            </a:lvl1pPr>
          </a:lstStyle>
          <a:p xmlns:a="http://schemas.openxmlformats.org/drawingml/2006/main">
            <a:pPr algn="l">
              <a:buNone/>
            </a:pPr>
            <a:fld id="{F7021451-1387-4CA6-816F-3879F97B5CBC}" type="slidenum">
              <a:rPr b="0"/>
              <a:t>6</a:t>
            </a:fld>
            <a:endParaRPr/>
          </a:p>
        </p:txBody>
      </p:sp>
    </p:spTree>
    <p:extLst>
      <p:ext uri="{BB962C8B-B14F-4D97-AF65-F5344CB8AC3E}">
        <p14:creationId xmlns:p14="http://schemas.microsoft.com/office/powerpoint/2010/main" val="7145925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DFCE2412-6F85-40A7-B4A8-72A39BF5EFFE}"/>
              </a:ext>
            </a:extLst>
          </p:cNvPr>
          <p:cNvPicPr>
            <a:picLocks xmlns:a="http://schemas.openxmlformats.org/drawingml/2006/main" noChangeAspect="1"/>
          </p:cNvPicPr>
          <p:nvPr/>
        </p:nvPicPr>
        <p:blipFill>
          <a:blip xmlns:r="http://schemas.openxmlformats.org/officeDocument/2006/relationships" xmlns:a="http://schemas.openxmlformats.org/drawingml/2006/main" r:embed="R28b3cd3184614b64"/>
          <a:srcRect xmlns:a="http://schemas.openxmlformats.org/drawingml/2006/main" l="0" t="0" r="0" b="0"/>
          <a:stretch xmlns:a="http://schemas.openxmlformats.org/drawingml/2006/main">
            <a:fillRect l="0" t="0" r="0" b="0"/>
          </a:stretch>
        </p:blipFill>
        <p:spPr>
          <a:xfrm xmlns:a="http://schemas.openxmlformats.org/drawingml/2006/main">
            <a:off x="10648950" y="133350"/>
            <a:ext cx="971550" cy="97155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1B3F493A-7CDD-4402-A082-57BF5337DB0C}"/>
              </a:ext>
            </a:extLst>
          </p:cNvPr>
          <p:cNvSpPr>
            <a:spLocks xmlns:a="http://schemas.openxmlformats.org/drawingml/2006/main" noGrp="1"/>
          </p:cNvSpPr>
          <p:nvPr/>
        </p:nvSpPr>
        <p:spPr>
          <a:xfrm xmlns:a="http://schemas.openxmlformats.org/drawingml/2006/main">
            <a:off x="594360" y="411480"/>
            <a:ext cx="9052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11015"/>
                </a:solidFill>
                <a:latin typeface="Arial"/>
                <a:ea typeface="Arial"/>
                <a:cs typeface="Arial"/>
              </a:rPr>
              <a:t>Challenges + Testing</a:t>
            </a:r>
            <a:endParaRPr sz="3000"/>
          </a:p>
        </p:txBody>
      </p:sp>
      <p:sp>
        <p:nvSpPr>
          <p:cNvPr id="4" name="Text 1">
            <a:extLst xmlns:a="http://schemas.openxmlformats.org/drawingml/2006/main">
              <a:ext uri="{FF2B5EF4-FFF2-40B4-BE49-F238E27FC236}">
                <a16:creationId xmlns:a16="http://schemas.microsoft.com/office/drawing/2014/main" id="{0BBCC309-4DFF-44CC-AAC0-E0C333A86BCF}"/>
              </a:ext>
            </a:extLst>
          </p:cNvPr>
          <p:cNvSpPr>
            <a:spLocks xmlns:a="http://schemas.openxmlformats.org/drawingml/2006/main" noGrp="1"/>
          </p:cNvSpPr>
          <p:nvPr/>
        </p:nvSpPr>
        <p:spPr>
          <a:xfrm xmlns:a="http://schemas.openxmlformats.org/drawingml/2006/main">
            <a:off x="612648" y="987552"/>
            <a:ext cx="106984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595465"/>
                </a:solidFill>
                <a:latin typeface="Arial"/>
                <a:ea typeface="Arial"/>
                <a:cs typeface="Arial"/>
              </a:rPr>
              <a:t>The challenges helped me understand how the pieces connect.</a:t>
            </a:r>
            <a:endParaRPr sz="1500"/>
          </a:p>
        </p:txBody>
      </p:sp>
      <p:sp>
        <p:nvSpPr>
          <p:cNvPr id="5" name="Text 2">
            <a:extLst xmlns:a="http://schemas.openxmlformats.org/drawingml/2006/main">
              <a:ext uri="{FF2B5EF4-FFF2-40B4-BE49-F238E27FC236}">
                <a16:creationId xmlns:a16="http://schemas.microsoft.com/office/drawing/2014/main" id="{649B3594-B489-4EF2-867F-E68C79A00619}"/>
              </a:ext>
            </a:extLst>
          </p:cNvPr>
          <p:cNvSpPr>
            <a:spLocks xmlns:a="http://schemas.openxmlformats.org/drawingml/2006/main" noGrp="1"/>
          </p:cNvSpPr>
          <p:nvPr/>
        </p:nvSpPr>
        <p:spPr>
          <a:xfrm xmlns:a="http://schemas.openxmlformats.org/drawingml/2006/main">
            <a:off x="914400" y="1463040"/>
            <a:ext cx="10241280" cy="4297680"/>
          </a:xfrm>
          <a:prstGeom xmlns:a="http://schemas.openxmlformats.org/drawingml/2006/main" prst="rect">
            <a:avLst/>
          </a:prstGeom>
          <a:noFill xmlns:a="http://schemas.openxmlformats.org/drawingml/2006/main"/>
        </p:spPr>
        <p:txBody>
          <a:bodyPr xmlns:a="http://schemas.openxmlformats.org/drawingml/2006/main" wrap="square" lIns="635" tIns="635" rIns="635" bIns="635" anchor="ctr">
            <a:normAutofit/>
          </a:bodyPr>
          <a:lstStyle xmlns:a="http://schemas.openxmlformats.org/drawingml/2006/main"/>
          <a:p xmlns:a="http://schemas.openxmlformats.org/drawingml/2006/main">
            <a:pPr marL="254000" indent="-254000">
              <a:buSzPct val="100000"/>
              <a:buChar char="•"/>
            </a:pPr>
            <a:r>
              <a:rPr sz="2100">
                <a:solidFill>
                  <a:srgbClr val="111015"/>
                </a:solidFill>
                <a:latin typeface="Arial"/>
                <a:ea typeface="Arial"/>
                <a:cs typeface="Arial"/>
              </a:rPr>
              <a:t>Connecting MongoDB Atlas and understanding database credentials</a:t>
            </a:r>
            <a:endParaRPr sz="2100"/>
          </a:p>
          <a:p xmlns:a="http://schemas.openxmlformats.org/drawingml/2006/main">
            <a:pPr marL="254000" indent="-254000">
              <a:buSzPct val="100000"/>
              <a:buChar char="•"/>
            </a:pPr>
            <a:r>
              <a:rPr sz="2100">
                <a:solidFill>
                  <a:srgbClr val="111015"/>
                </a:solidFill>
                <a:latin typeface="Arial"/>
                <a:ea typeface="Arial"/>
                <a:cs typeface="Arial"/>
              </a:rPr>
              <a:t>Connecting the React frontend to the Express backend</a:t>
            </a:r>
            <a:endParaRPr sz="2100"/>
          </a:p>
          <a:p xmlns:a="http://schemas.openxmlformats.org/drawingml/2006/main">
            <a:pPr marL="254000" indent="-254000">
              <a:buSzPct val="100000"/>
              <a:buChar char="•"/>
            </a:pPr>
            <a:r>
              <a:rPr sz="2100">
                <a:solidFill>
                  <a:srgbClr val="111015"/>
                </a:solidFill>
                <a:latin typeface="Arial"/>
                <a:ea typeface="Arial"/>
                <a:cs typeface="Arial"/>
              </a:rPr>
              <a:t>Understanding JWT, roles, and protected routes</a:t>
            </a:r>
            <a:endParaRPr sz="2100"/>
          </a:p>
          <a:p xmlns:a="http://schemas.openxmlformats.org/drawingml/2006/main">
            <a:pPr marL="254000" indent="-254000">
              <a:buSzPct val="100000"/>
              <a:buChar char="•"/>
            </a:pPr>
            <a:r>
              <a:rPr sz="2100">
                <a:solidFill>
                  <a:srgbClr val="111015"/>
                </a:solidFill>
                <a:latin typeface="Arial"/>
                <a:ea typeface="Arial"/>
                <a:cs typeface="Arial"/>
              </a:rPr>
              <a:t>Preparing CORS and environment variables for deployment</a:t>
            </a:r>
            <a:endParaRPr sz="2100"/>
          </a:p>
          <a:p xmlns:a="http://schemas.openxmlformats.org/drawingml/2006/main">
            <a:pPr marL="254000" indent="-254000">
              <a:buSzPct val="100000"/>
              <a:buChar char="•"/>
            </a:pPr>
            <a:r>
              <a:rPr sz="2100">
                <a:solidFill>
                  <a:srgbClr val="111015"/>
                </a:solidFill>
                <a:latin typeface="Arial"/>
                <a:ea typeface="Arial"/>
                <a:cs typeface="Arial"/>
              </a:rPr>
              <a:t>Testing the full workflow instead of only testing one file at a time</a:t>
            </a:r>
            <a:endParaRPr sz="2100"/>
          </a:p>
        </p:txBody>
      </p:sp>
      <p:sp>
        <p:nvSpPr>
          <p:cNvPr id="6" name="Shape 3">
            <a:extLst xmlns:a="http://schemas.openxmlformats.org/drawingml/2006/main">
              <a:ext uri="{FF2B5EF4-FFF2-40B4-BE49-F238E27FC236}">
                <a16:creationId xmlns:a16="http://schemas.microsoft.com/office/drawing/2014/main" id="{40F0E9E1-0CCC-49E7-8144-182D444087A5}"/>
              </a:ext>
            </a:extLst>
          </p:cNvPr>
          <p:cNvSpPr>
            <a:spLocks xmlns:a="http://schemas.openxmlformats.org/drawingml/2006/main" noGrp="1"/>
          </p:cNvSpPr>
          <p:nvPr/>
        </p:nvSpPr>
        <p:spPr>
          <a:xfrm xmlns:a="http://schemas.openxmlformats.org/drawingml/2006/main">
            <a:off x="1828800" y="5760720"/>
            <a:ext cx="8503920" cy="457200"/>
          </a:xfrm>
          <a:prstGeom xmlns:a="http://schemas.openxmlformats.org/drawingml/2006/main" prst="roundRect">
            <a:avLst/>
          </a:prstGeom>
          <a:solidFill xmlns:a="http://schemas.openxmlformats.org/drawingml/2006/main">
            <a:srgbClr val="111015"/>
          </a:solidFill>
          <a:ln xmlns:a="http://schemas.openxmlformats.org/drawingml/2006/main" w="12700">
            <a:solidFill>
              <a:srgbClr val="111015"/>
            </a:solidFill>
            <a:prstDash val="solid"/>
          </a:ln>
        </p:spPr>
      </p:sp>
      <p:sp>
        <p:nvSpPr>
          <p:cNvPr id="7" name="Text 4">
            <a:extLst xmlns:a="http://schemas.openxmlformats.org/drawingml/2006/main">
              <a:ext uri="{FF2B5EF4-FFF2-40B4-BE49-F238E27FC236}">
                <a16:creationId xmlns:a16="http://schemas.microsoft.com/office/drawing/2014/main" id="{25F17CF7-F63B-4AC5-B33D-83B129BA3F05}"/>
              </a:ext>
            </a:extLst>
          </p:cNvPr>
          <p:cNvSpPr>
            <a:spLocks xmlns:a="http://schemas.openxmlformats.org/drawingml/2006/main" noGrp="1"/>
          </p:cNvSpPr>
          <p:nvPr/>
        </p:nvSpPr>
        <p:spPr>
          <a:xfrm xmlns:a="http://schemas.openxmlformats.org/drawingml/2006/main">
            <a:off x="1965960" y="5879592"/>
            <a:ext cx="8229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rPr>
              <a:t>My debugging process: read the error → isolate the layer → test → fix → test again</a:t>
            </a:r>
            <a:endParaRPr sz="1300"/>
          </a:p>
        </p:txBody>
      </p:sp>
      <p:sp>
        <p:nvSpPr>
          <p:cNvPr id="25" name="Slide Number Placeholder 0">
            <a:extLst xmlns:a="http://schemas.openxmlformats.org/drawingml/2006/main">
              <a:ext uri="{FF2B5EF4-FFF2-40B4-BE49-F238E27FC236}">
                <a16:creationId xmlns:a16="http://schemas.microsoft.com/office/drawing/2014/main" id="{B3B55641-D076-4887-8F55-7D50C1E11A75}"/>
              </a:ext>
            </a:extLst>
          </p:cNvPr>
          <p:cNvSpPr>
            <a:spLocks xmlns:a="http://schemas.openxmlformats.org/drawingml/2006/main" noGrp="1"/>
          </p:cNvSpPr>
          <p:nvPr>
            <p:ph type="sldNum" idx="4294967295"/>
          </p:nvPr>
        </p:nvSpPr>
        <p:spPr>
          <a:xfrm xmlns:a="http://schemas.openxmlformats.org/drawingml/2006/main">
            <a:off x="11201400" y="6400800"/>
            <a:ext cx="411480" cy="182880"/>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95465"/>
                </a:solidFill>
              </a:defRPr>
            </a:lvl1pPr>
          </a:lstStyle>
          <a:p xmlns:a="http://schemas.openxmlformats.org/drawingml/2006/main">
            <a:pPr algn="l">
              <a:buNone/>
            </a:pPr>
            <a:fld id="{F7021451-1387-4CA6-816F-3879F97B5CBC}" type="slidenum">
              <a:rPr b="0"/>
              <a:t>7</a:t>
            </a:fld>
            <a:endParaRPr/>
          </a:p>
        </p:txBody>
      </p:sp>
    </p:spTree>
    <p:extLst>
      <p:ext uri="{BB962C8B-B14F-4D97-AF65-F5344CB8AC3E}">
        <p14:creationId xmlns:p14="http://schemas.microsoft.com/office/powerpoint/2010/main" val="161170032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53332FD9-5AE9-41DD-BAF2-D025CCF36BE5}"/>
              </a:ext>
            </a:extLst>
          </p:cNvPr>
          <p:cNvPicPr>
            <a:picLocks xmlns:a="http://schemas.openxmlformats.org/drawingml/2006/main" noChangeAspect="1"/>
          </p:cNvPicPr>
          <p:nvPr/>
        </p:nvPicPr>
        <p:blipFill>
          <a:blip xmlns:r="http://schemas.openxmlformats.org/officeDocument/2006/relationships" xmlns:a="http://schemas.openxmlformats.org/drawingml/2006/main" r:embed="Rda1022ed53c34585"/>
          <a:srcRect xmlns:a="http://schemas.openxmlformats.org/drawingml/2006/main" l="0" t="0" r="0" b="0"/>
          <a:stretch xmlns:a="http://schemas.openxmlformats.org/drawingml/2006/main">
            <a:fillRect l="0" t="0" r="0" b="0"/>
          </a:stretch>
        </p:blipFill>
        <p:spPr>
          <a:xfrm xmlns:a="http://schemas.openxmlformats.org/drawingml/2006/main">
            <a:off x="10648950" y="133350"/>
            <a:ext cx="971550" cy="97155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4631CB96-7D27-45AE-9743-787BEA13599D}"/>
              </a:ext>
            </a:extLst>
          </p:cNvPr>
          <p:cNvSpPr>
            <a:spLocks xmlns:a="http://schemas.openxmlformats.org/drawingml/2006/main" noGrp="1"/>
          </p:cNvSpPr>
          <p:nvPr/>
        </p:nvSpPr>
        <p:spPr>
          <a:xfrm xmlns:a="http://schemas.openxmlformats.org/drawingml/2006/main">
            <a:off x="594360" y="411480"/>
            <a:ext cx="9052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11015"/>
                </a:solidFill>
                <a:latin typeface="Arial"/>
                <a:ea typeface="Arial"/>
                <a:cs typeface="Arial"/>
              </a:rPr>
              <a:t>Deployment Status</a:t>
            </a:r>
            <a:endParaRPr sz="3000"/>
          </a:p>
        </p:txBody>
      </p:sp>
      <p:sp>
        <p:nvSpPr>
          <p:cNvPr id="4" name="Text 1">
            <a:extLst xmlns:a="http://schemas.openxmlformats.org/drawingml/2006/main">
              <a:ext uri="{FF2B5EF4-FFF2-40B4-BE49-F238E27FC236}">
                <a16:creationId xmlns:a16="http://schemas.microsoft.com/office/drawing/2014/main" id="{04571A00-F6DB-4AC3-9006-1D64B91A1083}"/>
              </a:ext>
            </a:extLst>
          </p:cNvPr>
          <p:cNvSpPr>
            <a:spLocks xmlns:a="http://schemas.openxmlformats.org/drawingml/2006/main" noGrp="1"/>
          </p:cNvSpPr>
          <p:nvPr/>
        </p:nvSpPr>
        <p:spPr>
          <a:xfrm xmlns:a="http://schemas.openxmlformats.org/drawingml/2006/main">
            <a:off x="612648" y="987552"/>
            <a:ext cx="106984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595465"/>
                </a:solidFill>
                <a:latin typeface="Arial"/>
                <a:ea typeface="Arial"/>
                <a:cs typeface="Arial"/>
              </a:rPr>
              <a:t>The code is deployment-ready; the final live account setup is the remaining step.</a:t>
            </a:r>
            <a:endParaRPr sz="1500"/>
          </a:p>
        </p:txBody>
      </p:sp>
      <p:sp>
        <p:nvSpPr>
          <p:cNvPr id="5" name="Shape 2">
            <a:extLst xmlns:a="http://schemas.openxmlformats.org/drawingml/2006/main">
              <a:ext uri="{FF2B5EF4-FFF2-40B4-BE49-F238E27FC236}">
                <a16:creationId xmlns:a16="http://schemas.microsoft.com/office/drawing/2014/main" id="{27FEC37F-7012-4C62-88D1-BDEB75145F0C}"/>
              </a:ext>
            </a:extLst>
          </p:cNvPr>
          <p:cNvSpPr>
            <a:spLocks xmlns:a="http://schemas.openxmlformats.org/drawingml/2006/main" noGrp="1"/>
          </p:cNvSpPr>
          <p:nvPr/>
        </p:nvSpPr>
        <p:spPr>
          <a:xfrm xmlns:a="http://schemas.openxmlformats.org/drawingml/2006/main">
            <a:off x="731520" y="1600200"/>
            <a:ext cx="3383280" cy="3566160"/>
          </a:xfrm>
          <a:prstGeom xmlns:a="http://schemas.openxmlformats.org/drawingml/2006/main" prst="roundRect">
            <a:avLst/>
          </a:prstGeom>
          <a:solidFill xmlns:a="http://schemas.openxmlformats.org/drawingml/2006/main">
            <a:srgbClr val="FFFFFF"/>
          </a:solidFill>
          <a:ln xmlns:a="http://schemas.openxmlformats.org/drawingml/2006/main" w="25400">
            <a:solidFill>
              <a:srgbClr val="9D6CFF"/>
            </a:solidFill>
            <a:prstDash val="solid"/>
          </a:ln>
        </p:spPr>
      </p:sp>
      <p:sp>
        <p:nvSpPr>
          <p:cNvPr id="6" name="Text 3">
            <a:extLst xmlns:a="http://schemas.openxmlformats.org/drawingml/2006/main">
              <a:ext uri="{FF2B5EF4-FFF2-40B4-BE49-F238E27FC236}">
                <a16:creationId xmlns:a16="http://schemas.microsoft.com/office/drawing/2014/main" id="{3AE0380B-91F8-48B1-9AC4-0E09FCAD1D40}"/>
              </a:ext>
            </a:extLst>
          </p:cNvPr>
          <p:cNvSpPr>
            <a:spLocks xmlns:a="http://schemas.openxmlformats.org/drawingml/2006/main" noGrp="1"/>
          </p:cNvSpPr>
          <p:nvPr/>
        </p:nvSpPr>
        <p:spPr>
          <a:xfrm xmlns:a="http://schemas.openxmlformats.org/drawingml/2006/main">
            <a:off x="932688" y="1783080"/>
            <a:ext cx="298094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11015"/>
                </a:solidFill>
              </a:rPr>
              <a:t>MongoDB Atlas</a:t>
            </a:r>
            <a:endParaRPr sz="2000"/>
          </a:p>
        </p:txBody>
      </p:sp>
      <p:sp>
        <p:nvSpPr>
          <p:cNvPr id="7" name="Text 4">
            <a:extLst xmlns:a="http://schemas.openxmlformats.org/drawingml/2006/main">
              <a:ext uri="{FF2B5EF4-FFF2-40B4-BE49-F238E27FC236}">
                <a16:creationId xmlns:a16="http://schemas.microsoft.com/office/drawing/2014/main" id="{DE2E1847-4F8F-472B-A5A0-AC17FB79F67A}"/>
              </a:ext>
            </a:extLst>
          </p:cNvPr>
          <p:cNvSpPr>
            <a:spLocks xmlns:a="http://schemas.openxmlformats.org/drawingml/2006/main" noGrp="1"/>
          </p:cNvSpPr>
          <p:nvPr/>
        </p:nvSpPr>
        <p:spPr>
          <a:xfrm xmlns:a="http://schemas.openxmlformats.org/drawingml/2006/main">
            <a:off x="932688" y="2331720"/>
            <a:ext cx="2980944" cy="2651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595465"/>
                </a:solidFill>
              </a:rPr>
              <a:t>Cloud database</a:t>
            </a:r>
            <a:endParaRPr sz="1700"/>
          </a:p>
          <a:p xmlns:a="http://schemas.openxmlformats.org/drawingml/2006/main">
            <a:pPr marL="0" indent="0">
              <a:buNone/>
            </a:pPr>
            <a:endParaRPr sz="1700"/>
          </a:p>
          <a:p xmlns:a="http://schemas.openxmlformats.org/drawingml/2006/main">
            <a:pPr marL="0" indent="0">
              <a:buNone/>
            </a:pPr>
            <a:r>
              <a:rPr sz="1700">
                <a:solidFill>
                  <a:srgbClr val="595465"/>
                </a:solidFill>
              </a:rPr>
              <a:t>Needs the private production connection string and database-user password.</a:t>
            </a:r>
            <a:endParaRPr sz="1700"/>
          </a:p>
        </p:txBody>
      </p:sp>
      <p:sp>
        <p:nvSpPr>
          <p:cNvPr id="8" name="Shape 5">
            <a:extLst xmlns:a="http://schemas.openxmlformats.org/drawingml/2006/main">
              <a:ext uri="{FF2B5EF4-FFF2-40B4-BE49-F238E27FC236}">
                <a16:creationId xmlns:a16="http://schemas.microsoft.com/office/drawing/2014/main" id="{641CD563-B3D0-4326-8EF8-32F2D3A60842}"/>
              </a:ext>
            </a:extLst>
          </p:cNvPr>
          <p:cNvSpPr>
            <a:spLocks xmlns:a="http://schemas.openxmlformats.org/drawingml/2006/main" noGrp="1"/>
          </p:cNvSpPr>
          <p:nvPr/>
        </p:nvSpPr>
        <p:spPr>
          <a:xfrm xmlns:a="http://schemas.openxmlformats.org/drawingml/2006/main">
            <a:off x="4407408" y="1600200"/>
            <a:ext cx="3383280" cy="3566160"/>
          </a:xfrm>
          <a:prstGeom xmlns:a="http://schemas.openxmlformats.org/drawingml/2006/main" prst="roundRect">
            <a:avLst/>
          </a:prstGeom>
          <a:solidFill xmlns:a="http://schemas.openxmlformats.org/drawingml/2006/main">
            <a:srgbClr val="FFFFFF"/>
          </a:solidFill>
          <a:ln xmlns:a="http://schemas.openxmlformats.org/drawingml/2006/main" w="25400">
            <a:solidFill>
              <a:srgbClr val="26D9CF"/>
            </a:solidFill>
            <a:prstDash val="solid"/>
          </a:ln>
        </p:spPr>
      </p:sp>
      <p:sp>
        <p:nvSpPr>
          <p:cNvPr id="9" name="Text 6">
            <a:extLst xmlns:a="http://schemas.openxmlformats.org/drawingml/2006/main">
              <a:ext uri="{FF2B5EF4-FFF2-40B4-BE49-F238E27FC236}">
                <a16:creationId xmlns:a16="http://schemas.microsoft.com/office/drawing/2014/main" id="{6EEE7657-AD5F-44EF-BAE9-0459466255C3}"/>
              </a:ext>
            </a:extLst>
          </p:cNvPr>
          <p:cNvSpPr>
            <a:spLocks xmlns:a="http://schemas.openxmlformats.org/drawingml/2006/main" noGrp="1"/>
          </p:cNvSpPr>
          <p:nvPr/>
        </p:nvSpPr>
        <p:spPr>
          <a:xfrm xmlns:a="http://schemas.openxmlformats.org/drawingml/2006/main">
            <a:off x="4608576" y="1783080"/>
            <a:ext cx="298094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11015"/>
                </a:solidFill>
              </a:rPr>
              <a:t>Render</a:t>
            </a:r>
            <a:endParaRPr sz="2000"/>
          </a:p>
        </p:txBody>
      </p:sp>
      <p:sp>
        <p:nvSpPr>
          <p:cNvPr id="10" name="Text 7">
            <a:extLst xmlns:a="http://schemas.openxmlformats.org/drawingml/2006/main">
              <a:ext uri="{FF2B5EF4-FFF2-40B4-BE49-F238E27FC236}">
                <a16:creationId xmlns:a16="http://schemas.microsoft.com/office/drawing/2014/main" id="{9FDC9933-5D9E-4126-8C9F-DE41A7E9F42B}"/>
              </a:ext>
            </a:extLst>
          </p:cNvPr>
          <p:cNvSpPr>
            <a:spLocks xmlns:a="http://schemas.openxmlformats.org/drawingml/2006/main" noGrp="1"/>
          </p:cNvSpPr>
          <p:nvPr/>
        </p:nvSpPr>
        <p:spPr>
          <a:xfrm xmlns:a="http://schemas.openxmlformats.org/drawingml/2006/main">
            <a:off x="4608576" y="2331720"/>
            <a:ext cx="2980944" cy="2651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595465"/>
                </a:solidFill>
              </a:rPr>
              <a:t>Backend hosting</a:t>
            </a:r>
            <a:endParaRPr sz="1700"/>
          </a:p>
          <a:p xmlns:a="http://schemas.openxmlformats.org/drawingml/2006/main">
            <a:pPr marL="0" indent="0">
              <a:buNone/>
            </a:pPr>
            <a:endParaRPr sz="1700"/>
          </a:p>
          <a:p xmlns:a="http://schemas.openxmlformats.org/drawingml/2006/main">
            <a:pPr marL="0" indent="0">
              <a:buNone/>
            </a:pPr>
            <a:r>
              <a:rPr sz="1700">
                <a:solidFill>
                  <a:srgbClr val="595465"/>
                </a:solidFill>
              </a:rPr>
              <a:t>Will run the Node/Express API and connect it to MongoDB.</a:t>
            </a:r>
            <a:endParaRPr sz="1700"/>
          </a:p>
        </p:txBody>
      </p:sp>
      <p:sp>
        <p:nvSpPr>
          <p:cNvPr id="11" name="Shape 8">
            <a:extLst xmlns:a="http://schemas.openxmlformats.org/drawingml/2006/main">
              <a:ext uri="{FF2B5EF4-FFF2-40B4-BE49-F238E27FC236}">
                <a16:creationId xmlns:a16="http://schemas.microsoft.com/office/drawing/2014/main" id="{4E81E69B-6A94-432C-941E-3DA63A01B811}"/>
              </a:ext>
            </a:extLst>
          </p:cNvPr>
          <p:cNvSpPr>
            <a:spLocks xmlns:a="http://schemas.openxmlformats.org/drawingml/2006/main" noGrp="1"/>
          </p:cNvSpPr>
          <p:nvPr/>
        </p:nvSpPr>
        <p:spPr>
          <a:xfrm xmlns:a="http://schemas.openxmlformats.org/drawingml/2006/main">
            <a:off x="8092440" y="1600200"/>
            <a:ext cx="3383280" cy="3566160"/>
          </a:xfrm>
          <a:prstGeom xmlns:a="http://schemas.openxmlformats.org/drawingml/2006/main" prst="roundRect">
            <a:avLst/>
          </a:prstGeom>
          <a:solidFill xmlns:a="http://schemas.openxmlformats.org/drawingml/2006/main">
            <a:srgbClr val="FFFFFF"/>
          </a:solidFill>
          <a:ln xmlns:a="http://schemas.openxmlformats.org/drawingml/2006/main" w="25400">
            <a:solidFill>
              <a:srgbClr val="FF1493"/>
            </a:solidFill>
            <a:prstDash val="solid"/>
          </a:ln>
        </p:spPr>
      </p:sp>
      <p:sp>
        <p:nvSpPr>
          <p:cNvPr id="12" name="Text 9">
            <a:extLst xmlns:a="http://schemas.openxmlformats.org/drawingml/2006/main">
              <a:ext uri="{FF2B5EF4-FFF2-40B4-BE49-F238E27FC236}">
                <a16:creationId xmlns:a16="http://schemas.microsoft.com/office/drawing/2014/main" id="{210CFEB2-4F53-424D-8409-71844EF83577}"/>
              </a:ext>
            </a:extLst>
          </p:cNvPr>
          <p:cNvSpPr>
            <a:spLocks xmlns:a="http://schemas.openxmlformats.org/drawingml/2006/main" noGrp="1"/>
          </p:cNvSpPr>
          <p:nvPr/>
        </p:nvSpPr>
        <p:spPr>
          <a:xfrm xmlns:a="http://schemas.openxmlformats.org/drawingml/2006/main">
            <a:off x="8293608" y="1783080"/>
            <a:ext cx="298094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11015"/>
                </a:solidFill>
              </a:rPr>
              <a:t>Vercel</a:t>
            </a:r>
            <a:endParaRPr sz="2000"/>
          </a:p>
        </p:txBody>
      </p:sp>
      <p:sp>
        <p:nvSpPr>
          <p:cNvPr id="13" name="Text 10">
            <a:extLst xmlns:a="http://schemas.openxmlformats.org/drawingml/2006/main">
              <a:ext uri="{FF2B5EF4-FFF2-40B4-BE49-F238E27FC236}">
                <a16:creationId xmlns:a16="http://schemas.microsoft.com/office/drawing/2014/main" id="{7DCCF324-D659-4013-AC83-34C2CB8EB815}"/>
              </a:ext>
            </a:extLst>
          </p:cNvPr>
          <p:cNvSpPr>
            <a:spLocks xmlns:a="http://schemas.openxmlformats.org/drawingml/2006/main" noGrp="1"/>
          </p:cNvSpPr>
          <p:nvPr/>
        </p:nvSpPr>
        <p:spPr>
          <a:xfrm xmlns:a="http://schemas.openxmlformats.org/drawingml/2006/main">
            <a:off x="8293608" y="2331720"/>
            <a:ext cx="2980944" cy="2651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595465"/>
                </a:solidFill>
              </a:rPr>
              <a:t>Frontend hosting</a:t>
            </a:r>
            <a:endParaRPr sz="1700"/>
          </a:p>
          <a:p xmlns:a="http://schemas.openxmlformats.org/drawingml/2006/main">
            <a:pPr marL="0" indent="0">
              <a:buNone/>
            </a:pPr>
            <a:endParaRPr sz="1700"/>
          </a:p>
          <a:p xmlns:a="http://schemas.openxmlformats.org/drawingml/2006/main">
            <a:pPr marL="0" indent="0">
              <a:buNone/>
            </a:pPr>
            <a:r>
              <a:rPr sz="1700">
                <a:solidFill>
                  <a:srgbClr val="595465"/>
                </a:solidFill>
              </a:rPr>
              <a:t>Will host the React app and point it to the Render API.</a:t>
            </a:r>
            <a:endParaRPr sz="1700"/>
          </a:p>
        </p:txBody>
      </p:sp>
      <p:sp>
        <p:nvSpPr>
          <p:cNvPr id="14" name="Shape 11">
            <a:extLst xmlns:a="http://schemas.openxmlformats.org/drawingml/2006/main">
              <a:ext uri="{FF2B5EF4-FFF2-40B4-BE49-F238E27FC236}">
                <a16:creationId xmlns:a16="http://schemas.microsoft.com/office/drawing/2014/main" id="{46D1080F-BA08-4751-90BA-CB9F08F81AD2}"/>
              </a:ext>
            </a:extLst>
          </p:cNvPr>
          <p:cNvSpPr>
            <a:spLocks xmlns:a="http://schemas.openxmlformats.org/drawingml/2006/main" noGrp="1"/>
          </p:cNvSpPr>
          <p:nvPr/>
        </p:nvSpPr>
        <p:spPr>
          <a:xfrm xmlns:a="http://schemas.openxmlformats.org/drawingml/2006/main">
            <a:off x="1828800" y="5760720"/>
            <a:ext cx="8503920" cy="457200"/>
          </a:xfrm>
          <a:prstGeom xmlns:a="http://schemas.openxmlformats.org/drawingml/2006/main" prst="roundRect">
            <a:avLst/>
          </a:prstGeom>
          <a:solidFill xmlns:a="http://schemas.openxmlformats.org/drawingml/2006/main">
            <a:srgbClr val="111015"/>
          </a:solidFill>
          <a:ln xmlns:a="http://schemas.openxmlformats.org/drawingml/2006/main" w="12700">
            <a:solidFill>
              <a:srgbClr val="111015"/>
            </a:solidFill>
            <a:prstDash val="solid"/>
          </a:ln>
        </p:spPr>
      </p:sp>
      <p:sp>
        <p:nvSpPr>
          <p:cNvPr id="15" name="Text 12">
            <a:extLst xmlns:a="http://schemas.openxmlformats.org/drawingml/2006/main">
              <a:ext uri="{FF2B5EF4-FFF2-40B4-BE49-F238E27FC236}">
                <a16:creationId xmlns:a16="http://schemas.microsoft.com/office/drawing/2014/main" id="{81713E00-8BBD-4E65-B3D3-7D6C996C8B55}"/>
              </a:ext>
            </a:extLst>
          </p:cNvPr>
          <p:cNvSpPr>
            <a:spLocks xmlns:a="http://schemas.openxmlformats.org/drawingml/2006/main" noGrp="1"/>
          </p:cNvSpPr>
          <p:nvPr/>
        </p:nvSpPr>
        <p:spPr>
          <a:xfrm xmlns:a="http://schemas.openxmlformats.org/drawingml/2006/main">
            <a:off x="1965960" y="5879592"/>
            <a:ext cx="8229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rPr>
              <a:t>Prepared ≠ live. The final external account connection still has to be completed.</a:t>
            </a:r>
            <a:endParaRPr sz="1300"/>
          </a:p>
        </p:txBody>
      </p:sp>
      <p:sp>
        <p:nvSpPr>
          <p:cNvPr id="25" name="Slide Number Placeholder 0">
            <a:extLst xmlns:a="http://schemas.openxmlformats.org/drawingml/2006/main">
              <a:ext uri="{FF2B5EF4-FFF2-40B4-BE49-F238E27FC236}">
                <a16:creationId xmlns:a16="http://schemas.microsoft.com/office/drawing/2014/main" id="{B2887FBB-EC84-40C9-9D24-8C8B10845458}"/>
              </a:ext>
            </a:extLst>
          </p:cNvPr>
          <p:cNvSpPr>
            <a:spLocks xmlns:a="http://schemas.openxmlformats.org/drawingml/2006/main" noGrp="1"/>
          </p:cNvSpPr>
          <p:nvPr>
            <p:ph type="sldNum" idx="4294967295"/>
          </p:nvPr>
        </p:nvSpPr>
        <p:spPr>
          <a:xfrm xmlns:a="http://schemas.openxmlformats.org/drawingml/2006/main">
            <a:off x="11201400" y="6400800"/>
            <a:ext cx="411480" cy="182880"/>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595465"/>
                </a:solidFill>
              </a:defRPr>
            </a:lvl1pPr>
          </a:lstStyle>
          <a:p xmlns:a="http://schemas.openxmlformats.org/drawingml/2006/main">
            <a:pPr algn="l">
              <a:buNone/>
            </a:pPr>
            <a:fld id="{F7021451-1387-4CA6-816F-3879F97B5CBC}" type="slidenum">
              <a:rPr b="0"/>
              <a:t>8</a:t>
            </a:fld>
            <a:endParaRPr/>
          </a:p>
        </p:txBody>
      </p:sp>
    </p:spTree>
    <p:extLst>
      <p:ext uri="{BB962C8B-B14F-4D97-AF65-F5344CB8AC3E}">
        <p14:creationId xmlns:p14="http://schemas.microsoft.com/office/powerpoint/2010/main" val="1124733262"/>
      </p:ext>
    </p:extLst>
  </p:cSld>
</p:sld>
</file>

<file path=ppt/slides/slide9.xml><?xml version="1.0" encoding="utf-8"?>
<p:sld xmlns:p="http://schemas.openxmlformats.org/presentationml/2006/main">
  <p:cSld>
    <p:bg>
      <p:bgPr>
        <a:solidFill xmlns:a="http://schemas.openxmlformats.org/drawingml/2006/main">
          <a:srgbClr val="111015"/>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9FB5E200-042C-4B6C-8ED9-B5A06B0093E0}"/>
              </a:ext>
            </a:extLst>
          </p:cNvPr>
          <p:cNvPicPr>
            <a:picLocks xmlns:a="http://schemas.openxmlformats.org/drawingml/2006/main" noChangeAspect="1"/>
          </p:cNvPicPr>
          <p:nvPr/>
        </p:nvPicPr>
        <p:blipFill>
          <a:blip xmlns:r="http://schemas.openxmlformats.org/officeDocument/2006/relationships" xmlns:a="http://schemas.openxmlformats.org/drawingml/2006/main" r:embed="R2ee6ebee7b024f2c"/>
          <a:srcRect xmlns:a="http://schemas.openxmlformats.org/drawingml/2006/main" l="0" t="0" r="0" b="0"/>
          <a:stretch xmlns:a="http://schemas.openxmlformats.org/drawingml/2006/main">
            <a:fillRect l="0" t="0" r="0" b="0"/>
          </a:stretch>
        </p:blipFill>
        <p:spPr>
          <a:xfrm xmlns:a="http://schemas.openxmlformats.org/drawingml/2006/main">
            <a:off x="4438650" y="76200"/>
            <a:ext cx="3314700" cy="33147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5CFE05DD-7082-4A43-87C5-72C1DB527671}"/>
              </a:ext>
            </a:extLst>
          </p:cNvPr>
          <p:cNvSpPr>
            <a:spLocks xmlns:a="http://schemas.openxmlformats.org/drawingml/2006/main" noGrp="1"/>
          </p:cNvSpPr>
          <p:nvPr/>
        </p:nvSpPr>
        <p:spPr>
          <a:xfrm xmlns:a="http://schemas.openxmlformats.org/drawingml/2006/main">
            <a:off x="3154680" y="3429000"/>
            <a:ext cx="5852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FFFFFF"/>
                </a:solidFill>
              </a:rPr>
              <a:t>What I Would Demo</a:t>
            </a:r>
            <a:endParaRPr sz="3000"/>
          </a:p>
        </p:txBody>
      </p:sp>
      <p:sp>
        <p:nvSpPr>
          <p:cNvPr id="4" name="Text 1">
            <a:extLst xmlns:a="http://schemas.openxmlformats.org/drawingml/2006/main">
              <a:ext uri="{FF2B5EF4-FFF2-40B4-BE49-F238E27FC236}">
                <a16:creationId xmlns:a16="http://schemas.microsoft.com/office/drawing/2014/main" id="{ED8AF8DD-3FD6-4E5D-BD4C-6FE95C318D19}"/>
              </a:ext>
            </a:extLst>
          </p:cNvPr>
          <p:cNvSpPr>
            <a:spLocks xmlns:a="http://schemas.openxmlformats.org/drawingml/2006/main" noGrp="1"/>
          </p:cNvSpPr>
          <p:nvPr/>
        </p:nvSpPr>
        <p:spPr>
          <a:xfrm xmlns:a="http://schemas.openxmlformats.org/drawingml/2006/main">
            <a:off x="1234440" y="4160520"/>
            <a:ext cx="9738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26D9CF"/>
                </a:solidFill>
              </a:rPr>
              <a:t>Browse → Log in → Request → Dashboard → Staff CRUD</a:t>
            </a:r>
            <a:endParaRPr sz="2200"/>
          </a:p>
        </p:txBody>
      </p:sp>
      <p:sp>
        <p:nvSpPr>
          <p:cNvPr id="5" name="Text 2">
            <a:extLst xmlns:a="http://schemas.openxmlformats.org/drawingml/2006/main">
              <a:ext uri="{FF2B5EF4-FFF2-40B4-BE49-F238E27FC236}">
                <a16:creationId xmlns:a16="http://schemas.microsoft.com/office/drawing/2014/main" id="{AFF15D07-EB75-4AF7-8A60-F757EA8CCAB3}"/>
              </a:ext>
            </a:extLst>
          </p:cNvPr>
          <p:cNvSpPr>
            <a:spLocks xmlns:a="http://schemas.openxmlformats.org/drawingml/2006/main" noGrp="1"/>
          </p:cNvSpPr>
          <p:nvPr/>
        </p:nvSpPr>
        <p:spPr>
          <a:xfrm xmlns:a="http://schemas.openxmlformats.org/drawingml/2006/main">
            <a:off x="3749040" y="4983480"/>
            <a:ext cx="4663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FF1493"/>
                </a:solidFill>
              </a:rPr>
              <a:t>Thank you!</a:t>
            </a:r>
            <a:endParaRPr sz="3400"/>
          </a:p>
        </p:txBody>
      </p:sp>
      <p:sp>
        <p:nvSpPr>
          <p:cNvPr id="6" name="Text 3">
            <a:extLst xmlns:a="http://schemas.openxmlformats.org/drawingml/2006/main">
              <a:ext uri="{FF2B5EF4-FFF2-40B4-BE49-F238E27FC236}">
                <a16:creationId xmlns:a16="http://schemas.microsoft.com/office/drawing/2014/main" id="{7D6678DE-81B1-4445-8AC6-67AE4318DD65}"/>
              </a:ext>
            </a:extLst>
          </p:cNvPr>
          <p:cNvSpPr>
            <a:spLocks xmlns:a="http://schemas.openxmlformats.org/drawingml/2006/main" noGrp="1"/>
          </p:cNvSpPr>
          <p:nvPr/>
        </p:nvSpPr>
        <p:spPr>
          <a:xfrm xmlns:a="http://schemas.openxmlformats.org/drawingml/2006/main">
            <a:off x="2560320" y="5623560"/>
            <a:ext cx="71323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a:solidFill>
                  <a:srgbClr val="FFFFFF"/>
                </a:solidFill>
              </a:rPr>
              <a:t>Dr. Chantell McDowell  •  Tech It &amp; Go!</a:t>
            </a:r>
            <a:endParaRPr sz="1600"/>
          </a:p>
        </p:txBody>
      </p:sp>
      <p:sp>
        <p:nvSpPr>
          <p:cNvPr id="7" name="Rounded Rectangle 6">
            <a:extLst xmlns:a="http://schemas.openxmlformats.org/drawingml/2006/main">
              <a:ext uri="{FF2B5EF4-FFF2-40B4-BE49-F238E27FC236}">
                <a16:creationId xmlns:a16="http://schemas.microsoft.com/office/drawing/2014/main" id="{0FE9BA5C-0581-48A8-B88A-EE3E1F916E30}"/>
              </a:ext>
            </a:extLst>
          </p:cNvPr>
          <p:cNvSpPr>
            <a:spLocks xmlns:a="http://schemas.openxmlformats.org/drawingml/2006/main" noGrp="1"/>
          </p:cNvSpPr>
          <p:nvPr/>
        </p:nvSpPr>
        <p:spPr>
          <a:xfrm xmlns:a="http://schemas.openxmlformats.org/drawingml/2006/main">
            <a:off x="1874519" y="5925312"/>
            <a:ext cx="8439912" cy="585216"/>
          </a:xfrm>
          <a:prstGeom xmlns:a="http://schemas.openxmlformats.org/drawingml/2006/main" prst="roundRect">
            <a:avLst/>
          </a:prstGeom>
          <a:solidFill xmlns:a="http://schemas.openxmlformats.org/drawingml/2006/main">
            <a:srgbClr val="141418"/>
          </a:solidFill>
          <a:ln xmlns:a="http://schemas.openxmlformats.org/drawingml/2006/main" w="15240">
            <a:solidFill>
              <a:srgbClr val="00DA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73152" rIns="73152" bIns="27432" anchor="ctr"/>
          <a:lstStyle xmlns:a="http://schemas.openxmlformats.org/drawingml/2006/main"/>
          <a:p xmlns:a="http://schemas.openxmlformats.org/drawingml/2006/main">
            <a:pPr algn="ctr">
              <a:buNone/>
            </a:pPr>
            <a:r>
              <a:rPr sz="1050" b="1">
                <a:solidFill>
                  <a:srgbClr val="FF2EA6"/>
                </a:solidFill>
                <a:latin typeface="Arial"/>
                <a:ea typeface="Arial"/>
                <a:cs typeface="Arial"/>
              </a:rPr>
              <a:t>LIVE TECH IT &amp; GO! CATALOG</a:t>
            </a:r>
          </a:p>
          <a:p xmlns:a="http://schemas.openxmlformats.org/drawingml/2006/main">
            <a:pPr algn="ctr">
              <a:buNone/>
            </a:pPr>
            <a:r>
              <a:rPr sz="950" b="1">
                <a:solidFill>
                  <a:srgbClr val="F5F5F8"/>
                </a:solidFill>
                <a:latin typeface="Arial"/>
                <a:ea typeface="Arial"/>
                <a:cs typeface="Arial"/>
                <a:hlinkClick xmlns:r="http://schemas.openxmlformats.org/officeDocument/2006/relationships" r:id="Rebbb747399fa47c5"/>
              </a:rPr>
              <a:t>https://tech-it-and-go.onrender.com/equipment</a:t>
            </a:r>
          </a:p>
        </p:txBody>
      </p:sp>
    </p:spTree>
    <p:extLst>
      <p:ext uri="{BB962C8B-B14F-4D97-AF65-F5344CB8AC3E}">
        <p14:creationId xmlns:p14="http://schemas.microsoft.com/office/powerpoint/2010/main" val="23704994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2026-10-09T15:03:00.3480000Z</dcterms:created>
  <dcterms:modified xsi:type="dcterms:W3CDTF">2026-10-09T15:03:00.3480000Z</dcterms:modified>
</coreProperties>
</file>